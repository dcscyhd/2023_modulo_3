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5"/>
  </p:notesMasterIdLst>
  <p:sldIdLst>
    <p:sldId id="256" r:id="rId2"/>
    <p:sldId id="336" r:id="rId3"/>
    <p:sldId id="258" r:id="rId4"/>
    <p:sldId id="262" r:id="rId5"/>
    <p:sldId id="263" r:id="rId6"/>
    <p:sldId id="264" r:id="rId7"/>
    <p:sldId id="265" r:id="rId8"/>
    <p:sldId id="267" r:id="rId9"/>
    <p:sldId id="268" r:id="rId10"/>
    <p:sldId id="270" r:id="rId11"/>
    <p:sldId id="271" r:id="rId12"/>
    <p:sldId id="272" r:id="rId13"/>
    <p:sldId id="273" r:id="rId14"/>
    <p:sldId id="299" r:id="rId15"/>
    <p:sldId id="300" r:id="rId16"/>
    <p:sldId id="301" r:id="rId17"/>
    <p:sldId id="306" r:id="rId18"/>
    <p:sldId id="282" r:id="rId19"/>
    <p:sldId id="283" r:id="rId20"/>
    <p:sldId id="284" r:id="rId21"/>
    <p:sldId id="275" r:id="rId22"/>
    <p:sldId id="276" r:id="rId23"/>
    <p:sldId id="277" r:id="rId24"/>
    <p:sldId id="279" r:id="rId25"/>
    <p:sldId id="280" r:id="rId26"/>
    <p:sldId id="281" r:id="rId27"/>
    <p:sldId id="302" r:id="rId28"/>
    <p:sldId id="303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329" r:id="rId37"/>
    <p:sldId id="307" r:id="rId38"/>
    <p:sldId id="331" r:id="rId39"/>
    <p:sldId id="332" r:id="rId40"/>
    <p:sldId id="305" r:id="rId41"/>
    <p:sldId id="292" r:id="rId42"/>
    <p:sldId id="310" r:id="rId43"/>
    <p:sldId id="311" r:id="rId44"/>
    <p:sldId id="297" r:id="rId45"/>
    <p:sldId id="308" r:id="rId46"/>
    <p:sldId id="335" r:id="rId47"/>
    <p:sldId id="298" r:id="rId48"/>
    <p:sldId id="309" r:id="rId49"/>
    <p:sldId id="333" r:id="rId50"/>
    <p:sldId id="334" r:id="rId51"/>
    <p:sldId id="295" r:id="rId52"/>
    <p:sldId id="296" r:id="rId53"/>
    <p:sldId id="312" r:id="rId5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56"/>
    </p:embeddedFont>
    <p:embeddedFont>
      <p:font typeface="Proxima Nova" panose="020B060402020202020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72BD5B9-A1A1-4B16-8F28-979374803D1B}">
  <a:tblStyle styleId="{272BD5B9-A1A1-4B16-8F28-979374803D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e5a1b4e583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e5a1b4e583_0_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0072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e5a1b4e583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e5a1b4e583_0_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e5a1b4e583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e5a1b4e583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e5a1b4e583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e5a1b4e583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e5a1b4e583_0_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e5a1b4e583_0_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e5a1b4e583_0_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e5a1b4e583_0_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5a1b4e583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5a1b4e583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5a1b4e583_0_5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5a1b4e583_0_5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626d24df6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626d24df6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e626d24df6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e626d24df6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e626d24df6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e626d24df6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92373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44069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626d24df6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626d24df6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8531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05740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626d24df6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626d24df6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8056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e626d24df6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e626d24df6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08190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e626d24df6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e626d24df6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806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e626d24df6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e626d24df6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e626d24df6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e626d24df6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626d24df6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626d24df6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e626d24df6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e626d24df6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e626d24df6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e626d24df6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e626d24df6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e626d24df6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888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1364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e626d24df6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e626d24df6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e626d24df6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e626d24df6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e626d24df6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e626d24df6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e626d24df6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e626d24df6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e626d24df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e626d24df6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4482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4820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00677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21129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6997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33316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74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991998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908933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60839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21905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22168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02484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En todos los casos mostramos ejemplos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3407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e5a1b4e583_0_5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e5a1b4e583_0_5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e5a1b4e583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e5a1b4e583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089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emilhvitfeldt.github.io/ISLR-tidymodels-labs/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hyperlink" Target="https://openintro-ims.netlify.app/" TargetMode="External"/><Relationship Id="rId4" Type="http://schemas.openxmlformats.org/officeDocument/2006/relationships/hyperlink" Target="https://www.tmwr.org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sv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Módulo</a:t>
            </a:r>
            <a:r>
              <a:rPr lang="en-GB" dirty="0"/>
              <a:t> 3: </a:t>
            </a:r>
            <a:r>
              <a:rPr lang="es-AR" dirty="0"/>
              <a:t>Introducción</a:t>
            </a:r>
            <a:r>
              <a:rPr lang="en-GB" dirty="0"/>
              <a:t> al </a:t>
            </a:r>
            <a:r>
              <a:rPr lang="es-AR" dirty="0"/>
              <a:t>modelado de datos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Diplomatura en Ciencias Sociales Computacionales y Humanidades Digitales (IDAES-UNSAM)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Quiénes</a:t>
            </a:r>
            <a:r>
              <a:rPr lang="en-GB" dirty="0"/>
              <a:t> </a:t>
            </a:r>
            <a:r>
              <a:rPr lang="en-GB" dirty="0" err="1"/>
              <a:t>somos</a:t>
            </a:r>
            <a:endParaRPr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40680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 b="1" dirty="0">
                <a:solidFill>
                  <a:schemeClr val="bg2"/>
                </a:solidFill>
              </a:rPr>
              <a:t>Guido </a:t>
            </a:r>
            <a:r>
              <a:rPr lang="es-AR" sz="2400" b="1" dirty="0" err="1">
                <a:solidFill>
                  <a:schemeClr val="bg2"/>
                </a:solidFill>
              </a:rPr>
              <a:t>Weksler</a:t>
            </a:r>
            <a:endParaRPr lang="es-AR" sz="2400" b="1" dirty="0">
              <a:solidFill>
                <a:schemeClr val="bg2"/>
              </a:solidFill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400" dirty="0"/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dirty="0" err="1"/>
              <a:t>Lic</a:t>
            </a:r>
            <a:r>
              <a:rPr lang="en-GB" dirty="0"/>
              <a:t>. </a:t>
            </a:r>
            <a:r>
              <a:rPr lang="en-GB" dirty="0" err="1"/>
              <a:t>Economía</a:t>
            </a:r>
            <a:r>
              <a:rPr lang="en-GB" dirty="0"/>
              <a:t> UBA</a:t>
            </a:r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s-AR" dirty="0"/>
              <a:t>Dr. Desarrollo Económico UNQ</a:t>
            </a:r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s-AR" dirty="0"/>
              <a:t>Investigador en CEPED-UBA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4" name="Google Shape;73;p15">
            <a:extLst>
              <a:ext uri="{FF2B5EF4-FFF2-40B4-BE49-F238E27FC236}">
                <a16:creationId xmlns:a16="http://schemas.microsoft.com/office/drawing/2014/main" id="{2AA8CB28-E164-49C3-950B-D6A9DE0066A1}"/>
              </a:ext>
            </a:extLst>
          </p:cNvPr>
          <p:cNvSpPr txBox="1">
            <a:spLocks/>
          </p:cNvSpPr>
          <p:nvPr/>
        </p:nvSpPr>
        <p:spPr>
          <a:xfrm>
            <a:off x="4771800" y="1152475"/>
            <a:ext cx="4068000" cy="34164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indent="0">
              <a:buFont typeface="Proxima Nova"/>
              <a:buNone/>
            </a:pPr>
            <a:r>
              <a:rPr lang="es-MX" sz="2400" b="1" dirty="0">
                <a:solidFill>
                  <a:schemeClr val="bg2"/>
                </a:solidFill>
              </a:rPr>
              <a:t>Santiago Núñez </a:t>
            </a:r>
            <a:r>
              <a:rPr lang="es-MX" sz="2400" b="1" dirty="0" err="1">
                <a:solidFill>
                  <a:schemeClr val="bg2"/>
                </a:solidFill>
              </a:rPr>
              <a:t>Rimedio</a:t>
            </a:r>
            <a:endParaRPr lang="es-MX" sz="2400" b="1" dirty="0">
              <a:solidFill>
                <a:schemeClr val="bg2"/>
              </a:solidFill>
            </a:endParaRPr>
          </a:p>
          <a:p>
            <a:pPr marL="114300" indent="0">
              <a:buFont typeface="Proxima Nova"/>
              <a:buNone/>
            </a:pPr>
            <a:endParaRPr lang="es-MX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Estudiante avanzado de Antropología Social UNSAM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Asistente de investigación </a:t>
            </a:r>
            <a:r>
              <a:rPr lang="es-MX" dirty="0" err="1"/>
              <a:t>Factor</a:t>
            </a:r>
            <a:r>
              <a:rPr lang="es-MX" sz="1200" dirty="0" err="1"/>
              <a:t>~</a:t>
            </a:r>
            <a:r>
              <a:rPr lang="es-MX" dirty="0" err="1"/>
              <a:t>Data</a:t>
            </a:r>
            <a:endParaRPr lang="es-MX" dirty="0"/>
          </a:p>
          <a:p>
            <a:pPr marL="0" indent="0">
              <a:spcAft>
                <a:spcPts val="1200"/>
              </a:spcAft>
              <a:buFont typeface="Proxima Nova"/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90349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Quiénes</a:t>
            </a:r>
            <a:r>
              <a:rPr lang="en-GB" dirty="0"/>
              <a:t> </a:t>
            </a:r>
            <a:r>
              <a:rPr lang="en-GB" dirty="0" err="1"/>
              <a:t>somos</a:t>
            </a:r>
            <a:endParaRPr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40680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 b="1" dirty="0">
                <a:solidFill>
                  <a:schemeClr val="bg2"/>
                </a:solidFill>
              </a:rPr>
              <a:t>Valentín Alvarez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400" dirty="0"/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dirty="0" err="1"/>
              <a:t>Lic</a:t>
            </a:r>
            <a:r>
              <a:rPr lang="en-GB" dirty="0"/>
              <a:t>. </a:t>
            </a:r>
            <a:r>
              <a:rPr lang="en-GB" dirty="0" err="1"/>
              <a:t>Economía</a:t>
            </a:r>
            <a:r>
              <a:rPr lang="en-GB" dirty="0"/>
              <a:t> UBA</a:t>
            </a:r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s-AR" dirty="0"/>
              <a:t>Mg. Desarrollo Económico UNSAM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4" name="Google Shape;73;p15">
            <a:extLst>
              <a:ext uri="{FF2B5EF4-FFF2-40B4-BE49-F238E27FC236}">
                <a16:creationId xmlns:a16="http://schemas.microsoft.com/office/drawing/2014/main" id="{2AA8CB28-E164-49C3-950B-D6A9DE0066A1}"/>
              </a:ext>
            </a:extLst>
          </p:cNvPr>
          <p:cNvSpPr txBox="1">
            <a:spLocks/>
          </p:cNvSpPr>
          <p:nvPr/>
        </p:nvSpPr>
        <p:spPr>
          <a:xfrm>
            <a:off x="4771800" y="1152475"/>
            <a:ext cx="4068000" cy="34164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indent="0">
              <a:buFont typeface="Proxima Nova"/>
              <a:buNone/>
            </a:pPr>
            <a:r>
              <a:rPr lang="es-MX" sz="2400" b="1" dirty="0">
                <a:solidFill>
                  <a:schemeClr val="bg2"/>
                </a:solidFill>
              </a:rPr>
              <a:t>Nayla Sol Garcilazo</a:t>
            </a:r>
          </a:p>
          <a:p>
            <a:pPr marL="114300" indent="0">
              <a:buFont typeface="Proxima Nova"/>
              <a:buNone/>
            </a:pPr>
            <a:endParaRPr lang="es-MX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Lic. en Sociología UBA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Diploma en Análisis de Datos y Pol. Públicas UBA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Asistente de investigación </a:t>
            </a:r>
            <a:r>
              <a:rPr lang="es-MX" dirty="0" err="1"/>
              <a:t>Factor</a:t>
            </a:r>
            <a:r>
              <a:rPr lang="es-MX" sz="1200" dirty="0" err="1"/>
              <a:t>~</a:t>
            </a:r>
            <a:r>
              <a:rPr lang="es-MX" dirty="0" err="1"/>
              <a:t>Data</a:t>
            </a:r>
            <a:endParaRPr lang="es-MX" dirty="0"/>
          </a:p>
          <a:p>
            <a:pPr marL="0" indent="0">
              <a:spcAft>
                <a:spcPts val="1200"/>
              </a:spcAft>
              <a:buFont typeface="Proxima Nova"/>
              <a:buNone/>
            </a:pPr>
            <a:endParaRPr lang="es-MX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Qué esperar de teóricos y qué esperar de prácticos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 err="1">
                <a:solidFill>
                  <a:schemeClr val="lt1"/>
                </a:solidFill>
              </a:rPr>
              <a:t>Teóricos</a:t>
            </a:r>
            <a:endParaRPr sz="24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Exposiciones</a:t>
            </a:r>
            <a:r>
              <a:rPr lang="en-GB" sz="2000" dirty="0">
                <a:solidFill>
                  <a:schemeClr val="lt1"/>
                </a:solidFill>
              </a:rPr>
              <a:t> de 60 </a:t>
            </a:r>
            <a:r>
              <a:rPr lang="en-GB" sz="2000" dirty="0" err="1">
                <a:solidFill>
                  <a:schemeClr val="lt1"/>
                </a:solidFill>
              </a:rPr>
              <a:t>minutos</a:t>
            </a:r>
            <a:r>
              <a:rPr lang="en-GB" sz="2000" dirty="0">
                <a:solidFill>
                  <a:schemeClr val="lt1"/>
                </a:solidFill>
              </a:rPr>
              <a:t> con slides </a:t>
            </a:r>
            <a:r>
              <a:rPr lang="en-GB" sz="2000" dirty="0" err="1">
                <a:solidFill>
                  <a:schemeClr val="lt1"/>
                </a:solidFill>
              </a:rPr>
              <a:t>sobre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los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conceptos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teóricos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estadísticos</a:t>
            </a:r>
            <a:r>
              <a:rPr lang="en-GB" sz="2000" dirty="0">
                <a:solidFill>
                  <a:schemeClr val="lt1"/>
                </a:solidFill>
              </a:rPr>
              <a:t> y de </a:t>
            </a:r>
            <a:r>
              <a:rPr lang="en-GB" sz="2000" dirty="0" err="1">
                <a:solidFill>
                  <a:schemeClr val="lt1"/>
                </a:solidFill>
              </a:rPr>
              <a:t>modelización</a:t>
            </a:r>
            <a:r>
              <a:rPr lang="en-GB" sz="2000" dirty="0">
                <a:solidFill>
                  <a:schemeClr val="lt1"/>
                </a:solidFill>
              </a:rPr>
              <a:t>.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108" name="Google Shape;108;p19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 err="1"/>
              <a:t>Prácticos</a:t>
            </a:r>
            <a:endParaRPr sz="2400" b="1" dirty="0"/>
          </a:p>
          <a:p>
            <a:pPr lvl="0" indent="-187325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0000"/>
              <a:buChar char="●"/>
            </a:pPr>
            <a:r>
              <a:rPr lang="en-GB" sz="2000" dirty="0" err="1"/>
              <a:t>Guiadas</a:t>
            </a:r>
            <a:r>
              <a:rPr lang="en-GB" sz="2000" dirty="0"/>
              <a:t> </a:t>
            </a:r>
            <a:r>
              <a:rPr lang="en-GB" sz="2000" dirty="0" err="1"/>
              <a:t>en</a:t>
            </a:r>
            <a:r>
              <a:rPr lang="en-GB" sz="2000" dirty="0"/>
              <a:t> </a:t>
            </a:r>
            <a:r>
              <a:rPr lang="en-GB" sz="2000" dirty="0" err="1"/>
              <a:t>clase</a:t>
            </a:r>
            <a:r>
              <a:rPr lang="en-GB" sz="2000" dirty="0"/>
              <a:t>, 60 </a:t>
            </a:r>
            <a:r>
              <a:rPr lang="en-GB" sz="2000" dirty="0" err="1"/>
              <a:t>minutos</a:t>
            </a:r>
            <a:r>
              <a:rPr lang="en-GB" sz="2000" dirty="0"/>
              <a:t> para </a:t>
            </a:r>
            <a:r>
              <a:rPr lang="en-GB" sz="2000" dirty="0" err="1"/>
              <a:t>trabajar</a:t>
            </a:r>
            <a:r>
              <a:rPr lang="en-GB" sz="2000" dirty="0"/>
              <a:t>.</a:t>
            </a:r>
            <a:endParaRPr sz="2000" dirty="0"/>
          </a:p>
          <a:p>
            <a:pPr lvl="0" indent="-187325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0000"/>
              <a:buChar char="●"/>
            </a:pPr>
            <a:r>
              <a:rPr lang="en-GB" sz="2000" dirty="0" err="1"/>
              <a:t>Independientes</a:t>
            </a:r>
            <a:r>
              <a:rPr lang="en-GB" sz="2000" dirty="0"/>
              <a:t> para </a:t>
            </a:r>
            <a:r>
              <a:rPr lang="en-GB" sz="2000" dirty="0" err="1"/>
              <a:t>trabajar</a:t>
            </a:r>
            <a:r>
              <a:rPr lang="en-GB" sz="2000" dirty="0"/>
              <a:t> entre </a:t>
            </a:r>
            <a:r>
              <a:rPr lang="en-GB" sz="2000" dirty="0" err="1"/>
              <a:t>clase</a:t>
            </a:r>
            <a:r>
              <a:rPr lang="en-GB" sz="2000" dirty="0"/>
              <a:t> y </a:t>
            </a:r>
            <a:r>
              <a:rPr lang="en-GB" sz="2000" dirty="0" err="1"/>
              <a:t>clase</a:t>
            </a:r>
            <a:r>
              <a:rPr lang="en-GB" sz="2000" dirty="0"/>
              <a:t>.</a:t>
            </a:r>
            <a:endParaRPr sz="2000" dirty="0"/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000" dirty="0"/>
              <a:t>Ambas </a:t>
            </a:r>
            <a:r>
              <a:rPr lang="en-GB" sz="2000" dirty="0" err="1"/>
              <a:t>en</a:t>
            </a:r>
            <a:r>
              <a:rPr lang="en-GB" sz="2000" dirty="0"/>
              <a:t> R Studio.</a:t>
            </a:r>
            <a:endParaRPr sz="2000" dirty="0"/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Bibliografía</a:t>
            </a:r>
            <a:r>
              <a:rPr lang="en-GB" dirty="0"/>
              <a:t> del </a:t>
            </a:r>
            <a:r>
              <a:rPr lang="en-GB" dirty="0" err="1"/>
              <a:t>módulo</a:t>
            </a:r>
            <a:endParaRPr dirty="0"/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417199" y="1162501"/>
            <a:ext cx="4154801" cy="3259886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400" dirty="0"/>
              <a:t>An Introduction to Statistical Learning with applications in R (James, Witten, Hastie y </a:t>
            </a:r>
            <a:r>
              <a:rPr lang="en-GB" sz="1400" dirty="0" err="1"/>
              <a:t>Tibshirani</a:t>
            </a:r>
            <a:r>
              <a:rPr lang="en-GB" sz="1400" dirty="0"/>
              <a:t>) – 1</a:t>
            </a:r>
            <a:r>
              <a:rPr lang="en-GB" sz="1400" baseline="30000" dirty="0"/>
              <a:t>st</a:t>
            </a:r>
            <a:r>
              <a:rPr lang="en-GB" sz="1400" dirty="0"/>
              <a:t> and </a:t>
            </a:r>
            <a:r>
              <a:rPr lang="en-GB" sz="1400" dirty="0">
                <a:hlinkClick r:id="rId3"/>
              </a:rPr>
              <a:t>2</a:t>
            </a:r>
            <a:r>
              <a:rPr lang="en-GB" sz="1400" baseline="30000" dirty="0">
                <a:hlinkClick r:id="rId3"/>
              </a:rPr>
              <a:t>nd</a:t>
            </a:r>
            <a:r>
              <a:rPr lang="en-GB" sz="1400" dirty="0">
                <a:hlinkClick r:id="rId3"/>
              </a:rPr>
              <a:t> version </a:t>
            </a:r>
            <a:endParaRPr lang="en-GB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GB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hlinkClick r:id="rId4"/>
              </a:rPr>
              <a:t>Tidy Modeling with R (Kuhn y </a:t>
            </a:r>
            <a:r>
              <a:rPr lang="en-US" sz="1400" dirty="0" err="1">
                <a:hlinkClick r:id="rId4"/>
              </a:rPr>
              <a:t>Silge</a:t>
            </a:r>
            <a:r>
              <a:rPr lang="en-US" sz="1400" dirty="0">
                <a:hlinkClick r:id="rId4"/>
              </a:rPr>
              <a:t>)</a:t>
            </a:r>
            <a:r>
              <a:rPr lang="es-AR" sz="1400" dirty="0"/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s-AR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AR" sz="1400" dirty="0">
                <a:hlinkClick r:id="rId5"/>
              </a:rPr>
              <a:t>Introduction</a:t>
            </a:r>
            <a:r>
              <a:rPr lang="es-AR" sz="1400" dirty="0"/>
              <a:t> </a:t>
            </a:r>
            <a:r>
              <a:rPr lang="es-AR" sz="1400" dirty="0" err="1"/>
              <a:t>to</a:t>
            </a:r>
            <a:r>
              <a:rPr lang="es-AR" sz="1400" dirty="0"/>
              <a:t> Modern </a:t>
            </a:r>
            <a:r>
              <a:rPr lang="es-AR" sz="1400" dirty="0" err="1"/>
              <a:t>Statistics</a:t>
            </a:r>
            <a:r>
              <a:rPr lang="es-AR" sz="1400" dirty="0"/>
              <a:t> (</a:t>
            </a:r>
            <a:r>
              <a:rPr lang="es-AR" sz="1400" dirty="0" err="1"/>
              <a:t>Çetinkaya</a:t>
            </a:r>
            <a:r>
              <a:rPr lang="es-AR" sz="1400" dirty="0"/>
              <a:t>-Rundel y Hardin) 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E690CFC0-5F6F-6FA3-BA3D-AE7D31E0B5E0}"/>
              </a:ext>
            </a:extLst>
          </p:cNvPr>
          <p:cNvCxnSpPr>
            <a:cxnSpLocks/>
          </p:cNvCxnSpPr>
          <p:nvPr/>
        </p:nvCxnSpPr>
        <p:spPr>
          <a:xfrm flipV="1">
            <a:off x="378069" y="940777"/>
            <a:ext cx="6849208" cy="2637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n 5">
            <a:extLst>
              <a:ext uri="{FF2B5EF4-FFF2-40B4-BE49-F238E27FC236}">
                <a16:creationId xmlns:a16="http://schemas.microsoft.com/office/drawing/2014/main" id="{9B3FEC64-D508-4033-8F47-A49BEBA908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5898" y="1462908"/>
            <a:ext cx="2244480" cy="29174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493B9F6-6CF5-4799-A076-4A1F48D532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82499">
            <a:off x="7128582" y="618711"/>
            <a:ext cx="1831357" cy="233850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7DC88D4-FA26-42CB-BC86-B82208AC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782492">
            <a:off x="7002312" y="2462353"/>
            <a:ext cx="1695264" cy="2256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Contenidos por clase</a:t>
            </a:r>
            <a:endParaRPr/>
          </a:p>
        </p:txBody>
      </p:sp>
      <p:graphicFrame>
        <p:nvGraphicFramePr>
          <p:cNvPr id="121" name="Google Shape;121;p21"/>
          <p:cNvGraphicFramePr/>
          <p:nvPr>
            <p:extLst>
              <p:ext uri="{D42A27DB-BD31-4B8C-83A1-F6EECF244321}">
                <p14:modId xmlns:p14="http://schemas.microsoft.com/office/powerpoint/2010/main" val="2344299726"/>
              </p:ext>
            </p:extLst>
          </p:nvPr>
        </p:nvGraphicFramePr>
        <p:xfrm>
          <a:off x="311750" y="1238250"/>
          <a:ext cx="8584913" cy="3708502"/>
        </p:xfrm>
        <a:graphic>
          <a:graphicData uri="http://schemas.openxmlformats.org/drawingml/2006/table">
            <a:tbl>
              <a:tblPr>
                <a:noFill/>
                <a:tableStyleId>{272BD5B9-A1A1-4B16-8F28-979374803D1B}</a:tableStyleId>
              </a:tblPr>
              <a:tblGrid>
                <a:gridCol w="1093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5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5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Clase</a:t>
                      </a:r>
                      <a:endParaRPr b="1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Temas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Bibliografía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1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Intro, </a:t>
                      </a:r>
                      <a:r>
                        <a:rPr lang="en-GB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tipos</a:t>
                      </a: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de </a:t>
                      </a:r>
                      <a:r>
                        <a:rPr lang="en-GB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modelos</a:t>
                      </a: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, trade-offs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2 ISLR + Cap 1 TMR + Caps 4 y 5 IMS</a:t>
                      </a:r>
                      <a:endParaRPr sz="1200"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7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2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Explorando y transformando variables.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</a:t>
                      </a: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a regresión lineal simple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3.1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6 TMR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 lineal múltiple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3.2 a 3.6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y 8 TMR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8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4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</a:t>
                      </a: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</a:t>
                      </a: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logística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4.1 a 4.3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9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5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LASSO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6.1 a 6.2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endParaRPr lang="es-AR" sz="1200"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6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Métricas de rendimiento y </a:t>
                      </a:r>
                      <a:r>
                        <a:rPr lang="es-AR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CrossValidation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5, 9 y 10 TMR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Teórica</a:t>
            </a:r>
            <a:r>
              <a:rPr lang="en-GB" dirty="0"/>
              <a:t> 1: intro, </a:t>
            </a:r>
            <a:r>
              <a:rPr lang="en-GB" dirty="0" err="1"/>
              <a:t>tipos</a:t>
            </a:r>
            <a:r>
              <a:rPr lang="en-GB" dirty="0"/>
              <a:t> de </a:t>
            </a:r>
            <a:r>
              <a:rPr lang="en-GB" dirty="0" err="1"/>
              <a:t>modelos</a:t>
            </a:r>
            <a:r>
              <a:rPr lang="en-GB" dirty="0"/>
              <a:t>, trade-offs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s-AR" dirty="0">
                <a:highlight>
                  <a:schemeClr val="lt2"/>
                </a:highlight>
              </a:rPr>
              <a:t>Introducción</a:t>
            </a:r>
            <a:r>
              <a:rPr lang="es-AR" dirty="0"/>
              <a:t> a la modelización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predicción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inferencia</a:t>
            </a:r>
            <a:endParaRPr lang="en-GB" dirty="0">
              <a:highlight>
                <a:schemeClr val="lt2"/>
              </a:highlight>
            </a:endParaRPr>
          </a:p>
          <a:p>
            <a:pPr>
              <a:lnSpc>
                <a:spcPct val="150000"/>
              </a:lnSpc>
              <a:buFont typeface="Proxima Nova"/>
              <a:buAutoNum type="romanUcPeriod"/>
            </a:pP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supervisado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>
                <a:highlight>
                  <a:schemeClr val="lt2"/>
                </a:highlight>
              </a:rPr>
              <a:t>no </a:t>
            </a:r>
            <a:r>
              <a:rPr lang="en-GB" dirty="0" err="1">
                <a:highlight>
                  <a:schemeClr val="lt2"/>
                </a:highlight>
              </a:rPr>
              <a:t>supervisado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regresión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clasificación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paramétricos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>
                <a:highlight>
                  <a:schemeClr val="lt2"/>
                </a:highlight>
              </a:rPr>
              <a:t>no </a:t>
            </a:r>
            <a:r>
              <a:rPr lang="en-GB" dirty="0" err="1">
                <a:highlight>
                  <a:schemeClr val="lt2"/>
                </a:highlight>
              </a:rPr>
              <a:t>paramétricos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Trade-off </a:t>
            </a:r>
            <a:r>
              <a:rPr lang="en-GB" dirty="0" err="1">
                <a:highlight>
                  <a:schemeClr val="lt2"/>
                </a:highlight>
              </a:rPr>
              <a:t>precisión-interpretabilidad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Trade-off </a:t>
            </a:r>
            <a:r>
              <a:rPr lang="en-GB" dirty="0" err="1">
                <a:highlight>
                  <a:schemeClr val="lt2"/>
                </a:highlight>
              </a:rPr>
              <a:t>sesgo-varianza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Medidas</a:t>
            </a:r>
            <a:r>
              <a:rPr lang="en-GB" dirty="0"/>
              <a:t> de la </a:t>
            </a:r>
            <a:r>
              <a:rPr lang="en-GB" dirty="0" err="1"/>
              <a:t>calidad</a:t>
            </a:r>
            <a:r>
              <a:rPr lang="en-GB" dirty="0"/>
              <a:t> del fit: set de </a:t>
            </a:r>
            <a:r>
              <a:rPr lang="en-GB" dirty="0">
                <a:highlight>
                  <a:schemeClr val="lt2"/>
                </a:highlight>
              </a:rPr>
              <a:t>training</a:t>
            </a:r>
            <a:r>
              <a:rPr lang="en-GB" dirty="0"/>
              <a:t> y set de </a:t>
            </a:r>
            <a:r>
              <a:rPr lang="en-GB" dirty="0">
                <a:highlight>
                  <a:schemeClr val="lt2"/>
                </a:highlight>
              </a:rPr>
              <a:t>testing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>
                <a:highlight>
                  <a:schemeClr val="lt2"/>
                </a:highlight>
              </a:rPr>
              <a:t>Flujo</a:t>
            </a:r>
            <a:r>
              <a:rPr lang="en-GB" dirty="0">
                <a:highlight>
                  <a:schemeClr val="lt2"/>
                </a:highlight>
              </a:rPr>
              <a:t> </a:t>
            </a:r>
            <a:r>
              <a:rPr lang="en-GB" dirty="0"/>
              <a:t>de </a:t>
            </a:r>
            <a:r>
              <a:rPr lang="en-GB" dirty="0" err="1"/>
              <a:t>trabajo</a:t>
            </a:r>
            <a:endParaRPr lang="en-GB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>
                <a:highlight>
                  <a:schemeClr val="lt2"/>
                </a:highlight>
              </a:rPr>
              <a:t>tidymodels</a:t>
            </a:r>
            <a:endParaRPr dirty="0">
              <a:highlight>
                <a:schemeClr val="lt2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I. </a:t>
            </a:r>
            <a:r>
              <a:rPr lang="en-GB" dirty="0" err="1"/>
              <a:t>Introducción</a:t>
            </a:r>
            <a:r>
              <a:rPr lang="en-GB" dirty="0"/>
              <a:t> a la </a:t>
            </a:r>
            <a:r>
              <a:rPr lang="en-GB" dirty="0" err="1"/>
              <a:t>modelización</a:t>
            </a:r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Modelizar es construir una función </a:t>
            </a:r>
            <a:r>
              <a:rPr lang="en-GB" i="1"/>
              <a:t>f</a:t>
            </a:r>
            <a:r>
              <a:rPr lang="en-GB"/>
              <a:t> que relacione variable(s) independiente(s) con variable dependiente</a:t>
            </a:r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body" idx="1"/>
          </p:nvPr>
        </p:nvSpPr>
        <p:spPr>
          <a:xfrm>
            <a:off x="472425" y="1990350"/>
            <a:ext cx="2198100" cy="20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Variable(s) </a:t>
            </a:r>
            <a:r>
              <a:rPr lang="en-GB" dirty="0" err="1"/>
              <a:t>independiente</a:t>
            </a:r>
            <a:r>
              <a:rPr lang="en-GB" dirty="0"/>
              <a:t>(s)</a:t>
            </a:r>
            <a:endParaRPr dirty="0"/>
          </a:p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dirty="0"/>
              <a:t>X</a:t>
            </a:r>
            <a:endParaRPr b="1" dirty="0"/>
          </a:p>
        </p:txBody>
      </p:sp>
      <p:pic>
        <p:nvPicPr>
          <p:cNvPr id="155" name="Google Shape;15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5175" y="3069700"/>
            <a:ext cx="2533650" cy="11620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6" name="Google Shape;156;p27"/>
          <p:cNvSpPr txBox="1">
            <a:spLocks noGrp="1"/>
          </p:cNvSpPr>
          <p:nvPr>
            <p:ph type="body" idx="1"/>
          </p:nvPr>
        </p:nvSpPr>
        <p:spPr>
          <a:xfrm>
            <a:off x="6473475" y="1990350"/>
            <a:ext cx="2198100" cy="20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Variable dependiente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/>
              <a:t>Y</a:t>
            </a:r>
            <a:endParaRPr b="1"/>
          </a:p>
        </p:txBody>
      </p:sp>
      <p:sp>
        <p:nvSpPr>
          <p:cNvPr id="157" name="Google Shape;157;p27"/>
          <p:cNvSpPr txBox="1">
            <a:spLocks noGrp="1"/>
          </p:cNvSpPr>
          <p:nvPr>
            <p:ph type="body" idx="1"/>
          </p:nvPr>
        </p:nvSpPr>
        <p:spPr>
          <a:xfrm>
            <a:off x="3472950" y="1668875"/>
            <a:ext cx="21981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200">
                <a:solidFill>
                  <a:schemeClr val="dk2"/>
                </a:solidFill>
              </a:rPr>
              <a:t>Modelo</a:t>
            </a:r>
            <a:endParaRPr sz="2200">
              <a:solidFill>
                <a:schemeClr val="dk2"/>
              </a:solidFill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2349175" y="3428125"/>
            <a:ext cx="432900" cy="445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7"/>
          <p:cNvSpPr/>
          <p:nvPr/>
        </p:nvSpPr>
        <p:spPr>
          <a:xfrm>
            <a:off x="6361925" y="3428125"/>
            <a:ext cx="432900" cy="445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033642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¿Para </a:t>
            </a:r>
            <a:r>
              <a:rPr lang="en-GB" dirty="0" err="1"/>
              <a:t>qué</a:t>
            </a:r>
            <a:r>
              <a:rPr lang="en-GB" dirty="0"/>
              <a:t> </a:t>
            </a:r>
            <a:r>
              <a:rPr lang="en-GB" dirty="0" err="1"/>
              <a:t>modelizar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9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II.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predicción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inferencia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Dos tipos de razones diferentes para modelizar</a:t>
            </a:r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800" b="1" dirty="0" err="1">
                <a:solidFill>
                  <a:schemeClr val="lt1"/>
                </a:solidFill>
              </a:rPr>
              <a:t>Predecir</a:t>
            </a:r>
            <a:endParaRPr sz="24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Tenemos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valores</a:t>
            </a:r>
            <a:r>
              <a:rPr lang="en-GB" sz="2000" dirty="0">
                <a:solidFill>
                  <a:schemeClr val="lt1"/>
                </a:solidFill>
              </a:rPr>
              <a:t> de un conjunto de variables </a:t>
            </a:r>
            <a:r>
              <a:rPr lang="en-GB" sz="2000" dirty="0" err="1">
                <a:solidFill>
                  <a:schemeClr val="lt1"/>
                </a:solidFill>
              </a:rPr>
              <a:t>independientes</a:t>
            </a:r>
            <a:r>
              <a:rPr lang="en-GB" sz="2000" dirty="0">
                <a:solidFill>
                  <a:schemeClr val="lt1"/>
                </a:solidFill>
              </a:rPr>
              <a:t> (X₁, X₂, etc.) y </a:t>
            </a:r>
            <a:r>
              <a:rPr lang="en-GB" sz="2000" dirty="0" err="1">
                <a:solidFill>
                  <a:schemeClr val="lt1"/>
                </a:solidFill>
              </a:rPr>
              <a:t>queremos</a:t>
            </a:r>
            <a:r>
              <a:rPr lang="en-GB" sz="2000" dirty="0">
                <a:solidFill>
                  <a:schemeClr val="lt1"/>
                </a:solidFill>
              </a:rPr>
              <a:t> un </a:t>
            </a:r>
            <a:r>
              <a:rPr lang="en-GB" sz="2000" dirty="0" err="1">
                <a:solidFill>
                  <a:schemeClr val="lt1"/>
                </a:solidFill>
              </a:rPr>
              <a:t>modelo</a:t>
            </a:r>
            <a:r>
              <a:rPr lang="en-GB" sz="2000" dirty="0">
                <a:solidFill>
                  <a:schemeClr val="lt1"/>
                </a:solidFill>
              </a:rPr>
              <a:t> que </a:t>
            </a:r>
            <a:r>
              <a:rPr lang="en-GB" sz="2000" b="1" u="sng" dirty="0" err="1">
                <a:solidFill>
                  <a:schemeClr val="lt1"/>
                </a:solidFill>
              </a:rPr>
              <a:t>prediga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b="1" dirty="0" err="1">
                <a:solidFill>
                  <a:schemeClr val="lt1"/>
                </a:solidFill>
              </a:rPr>
              <a:t>el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b="1" dirty="0" err="1">
                <a:solidFill>
                  <a:schemeClr val="lt1"/>
                </a:solidFill>
              </a:rPr>
              <a:t>valor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dirty="0">
                <a:solidFill>
                  <a:schemeClr val="lt1"/>
                </a:solidFill>
              </a:rPr>
              <a:t>de la variable </a:t>
            </a:r>
            <a:r>
              <a:rPr lang="en-GB" sz="2000" dirty="0" err="1">
                <a:solidFill>
                  <a:schemeClr val="lt1"/>
                </a:solidFill>
              </a:rPr>
              <a:t>dependiente</a:t>
            </a:r>
            <a:r>
              <a:rPr lang="en-GB" sz="2000" dirty="0">
                <a:solidFill>
                  <a:schemeClr val="lt1"/>
                </a:solidFill>
              </a:rPr>
              <a:t> (Y).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176" name="Google Shape;176;p30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800" b="1" dirty="0" err="1">
                <a:solidFill>
                  <a:schemeClr val="bg2"/>
                </a:solidFill>
              </a:rPr>
              <a:t>Inferir</a:t>
            </a:r>
            <a:endParaRPr sz="3400" b="1" dirty="0">
              <a:solidFill>
                <a:schemeClr val="bg2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AR" sz="2000" dirty="0">
                <a:solidFill>
                  <a:schemeClr val="bg2"/>
                </a:solidFill>
              </a:rPr>
              <a:t>Queremos </a:t>
            </a:r>
            <a:r>
              <a:rPr lang="es-AR" sz="2000" b="1" dirty="0">
                <a:solidFill>
                  <a:schemeClr val="bg2"/>
                </a:solidFill>
              </a:rPr>
              <a:t>comprender la </a:t>
            </a:r>
            <a:r>
              <a:rPr lang="es-AR" sz="2000" b="1" u="sng" dirty="0">
                <a:solidFill>
                  <a:schemeClr val="bg2"/>
                </a:solidFill>
              </a:rPr>
              <a:t>relación</a:t>
            </a:r>
            <a:r>
              <a:rPr lang="es-AR" sz="2000" b="1" dirty="0">
                <a:solidFill>
                  <a:schemeClr val="bg2"/>
                </a:solidFill>
              </a:rPr>
              <a:t> </a:t>
            </a:r>
            <a:r>
              <a:rPr lang="es-AR" sz="2000" dirty="0">
                <a:solidFill>
                  <a:schemeClr val="bg2"/>
                </a:solidFill>
              </a:rPr>
              <a:t>entre la variable dependiente (Y) y el conjunto de variables independientes (X₁, X₂, etc.).</a:t>
            </a:r>
            <a:endParaRPr sz="20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Predicción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045317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i="1" dirty="0">
                <a:solidFill>
                  <a:schemeClr val="bg2"/>
                </a:solidFill>
              </a:rPr>
              <a:t>f</a:t>
            </a:r>
            <a:r>
              <a:rPr lang="es-AR" sz="2000" dirty="0"/>
              <a:t> puede funcionar como una </a:t>
            </a:r>
            <a:r>
              <a:rPr lang="es-AR" sz="2000" b="1" dirty="0"/>
              <a:t>caja negra.</a:t>
            </a:r>
          </a:p>
          <a:p>
            <a:pPr marL="0" indent="0">
              <a:buNone/>
            </a:pPr>
            <a:endParaRPr lang="es-AR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El </a:t>
            </a:r>
            <a:r>
              <a:rPr lang="es-AR" sz="2000" b="1" dirty="0"/>
              <a:t>error</a:t>
            </a:r>
            <a:r>
              <a:rPr lang="es-AR" sz="2000" dirty="0"/>
              <a:t> de nuestras predicciones se puede descomponer en dos partes:</a:t>
            </a:r>
          </a:p>
          <a:p>
            <a:pPr marL="0" indent="0">
              <a:buNone/>
            </a:pPr>
            <a:endParaRPr lang="es-A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2000" dirty="0"/>
              <a:t>Reducible: mejorar </a:t>
            </a:r>
            <a:r>
              <a:rPr lang="es-AR" sz="2000" dirty="0">
                <a:solidFill>
                  <a:schemeClr val="bg2"/>
                </a:solidFill>
              </a:rPr>
              <a:t>f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2000" dirty="0"/>
              <a:t>Irreducible: </a:t>
            </a:r>
            <a:r>
              <a:rPr lang="el-GR" sz="2000" dirty="0">
                <a:solidFill>
                  <a:schemeClr val="bg2"/>
                </a:solidFill>
              </a:rPr>
              <a:t>ϵ</a:t>
            </a:r>
            <a:r>
              <a:rPr lang="es-AR" sz="2000" dirty="0">
                <a:solidFill>
                  <a:schemeClr val="bg2"/>
                </a:solidFill>
              </a:rPr>
              <a:t> </a:t>
            </a:r>
            <a:r>
              <a:rPr lang="es-AR" sz="2000" dirty="0"/>
              <a:t>(variables que no incluimos o no podemos medir)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sz="2000" b="1" dirty="0"/>
          </a:p>
        </p:txBody>
      </p:sp>
      <p:pic>
        <p:nvPicPr>
          <p:cNvPr id="3" name="Gráfico 2" descr="Formas básicas con relleno sólido">
            <a:extLst>
              <a:ext uri="{FF2B5EF4-FFF2-40B4-BE49-F238E27FC236}">
                <a16:creationId xmlns:a16="http://schemas.microsoft.com/office/drawing/2014/main" id="{1E433FC2-DD3F-A4B9-60E8-D8627D61A5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624" y="3601722"/>
            <a:ext cx="1283676" cy="128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59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Inferencia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i="1" dirty="0">
                <a:solidFill>
                  <a:schemeClr val="bg2"/>
                </a:solidFill>
              </a:rPr>
              <a:t>f</a:t>
            </a:r>
            <a:r>
              <a:rPr lang="es-AR" sz="2000" dirty="0"/>
              <a:t> </a:t>
            </a:r>
            <a:r>
              <a:rPr lang="es-AR" sz="2000" b="1" u="sng" dirty="0"/>
              <a:t>no</a:t>
            </a:r>
            <a:r>
              <a:rPr lang="es-AR" sz="2000" dirty="0"/>
              <a:t> puede funcionar como una </a:t>
            </a:r>
            <a:r>
              <a:rPr lang="es-AR" sz="2000" b="1" dirty="0"/>
              <a:t>caja negra.</a:t>
            </a:r>
          </a:p>
          <a:p>
            <a:pPr marL="0" indent="0">
              <a:buNone/>
            </a:pPr>
            <a:endParaRPr lang="es-AR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La </a:t>
            </a:r>
            <a:r>
              <a:rPr lang="es-AR" sz="2000" b="1" dirty="0"/>
              <a:t>calidad</a:t>
            </a:r>
            <a:r>
              <a:rPr lang="es-AR" sz="2000" dirty="0"/>
              <a:t> de nuestros resultados depende de una serie de </a:t>
            </a:r>
            <a:r>
              <a:rPr lang="es-AR" sz="2000" b="1" dirty="0"/>
              <a:t>supuestos</a:t>
            </a:r>
            <a:r>
              <a:rPr lang="es-AR" sz="2000" dirty="0"/>
              <a:t> acerca de la distribución de los datos.</a:t>
            </a:r>
          </a:p>
          <a:p>
            <a:pPr marL="0" indent="0">
              <a:buNone/>
            </a:pPr>
            <a:endParaRPr lang="es-A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Nuestro interés principal son preguntas como: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variables X están relacionadas con Y?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dirección tienen estas relaciones?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efecto tiene cada variable X en la variable Y?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¿Las relaciones son lineales o no lineales?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pic>
        <p:nvPicPr>
          <p:cNvPr id="2" name="Gráfico 1" descr="Formas básicas con relleno sólido">
            <a:extLst>
              <a:ext uri="{FF2B5EF4-FFF2-40B4-BE49-F238E27FC236}">
                <a16:creationId xmlns:a16="http://schemas.microsoft.com/office/drawing/2014/main" id="{C4206544-C57A-EE52-3C9F-9C46AFD1C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624" y="3601722"/>
            <a:ext cx="1283676" cy="128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884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0">
          <a:fgClr>
            <a:schemeClr val="lt2"/>
          </a:fgClr>
          <a:bgClr>
            <a:schemeClr val="bg1"/>
          </a:bgClr>
        </a:patt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7106304" cy="4090800"/>
          </a:xfr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sz="3700" dirty="0"/>
              <a:t>¿Cuándo usamos cada tipo de modelo?</a:t>
            </a:r>
            <a:br>
              <a:rPr lang="es-AR" sz="3700" dirty="0"/>
            </a:br>
            <a:br>
              <a:rPr lang="es-AR" sz="3700" dirty="0"/>
            </a:br>
            <a:r>
              <a:rPr lang="es-AR" sz="3700" b="1" dirty="0"/>
              <a:t>Discusión</a:t>
            </a:r>
            <a:r>
              <a:rPr lang="es-AR" sz="3700" dirty="0"/>
              <a:t>: </a:t>
            </a:r>
            <a:br>
              <a:rPr lang="es-AR" sz="3700" dirty="0"/>
            </a:br>
            <a:r>
              <a:rPr lang="es-AR" sz="3700" dirty="0"/>
              <a:t>¿qué pasa si nuestro modelo de inferencia no predice bien?</a:t>
            </a:r>
            <a:br>
              <a:rPr lang="es-AR" sz="3700" dirty="0"/>
            </a:br>
            <a:br>
              <a:rPr lang="es-AR" sz="3700" dirty="0"/>
            </a:br>
            <a:r>
              <a:rPr lang="es-AR" sz="3700" dirty="0"/>
              <a:t>+problemas para predecir por fuera del intervalo de entrenamiento </a:t>
            </a:r>
            <a:br>
              <a:rPr lang="es-AR" sz="3700" dirty="0"/>
            </a:br>
            <a:r>
              <a:rPr lang="es-AR" sz="2000" dirty="0"/>
              <a:t>(</a:t>
            </a:r>
            <a:r>
              <a:rPr lang="es-AR" sz="2000" dirty="0" err="1"/>
              <a:t>e.g</a:t>
            </a:r>
            <a:r>
              <a:rPr lang="es-AR" sz="2000" dirty="0"/>
              <a:t>.: predecir el futuro con datos del pasado)</a:t>
            </a:r>
            <a:endParaRPr lang="es-AR" sz="3700" dirty="0"/>
          </a:p>
        </p:txBody>
      </p:sp>
    </p:spTree>
    <p:extLst>
      <p:ext uri="{BB962C8B-B14F-4D97-AF65-F5344CB8AC3E}">
        <p14:creationId xmlns:p14="http://schemas.microsoft.com/office/powerpoint/2010/main" val="3365813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b="1" dirty="0"/>
          </a:p>
        </p:txBody>
      </p:sp>
      <p:pic>
        <p:nvPicPr>
          <p:cNvPr id="3" name="Imagen 2" descr="Diagrama, Escala de tiempo&#10;&#10;Descripción generada automáticamente">
            <a:extLst>
              <a:ext uri="{FF2B5EF4-FFF2-40B4-BE49-F238E27FC236}">
                <a16:creationId xmlns:a16="http://schemas.microsoft.com/office/drawing/2014/main" id="{AD119C11-F2A8-33D2-E6E7-4FBF05344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451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</a:t>
            </a:r>
            <a:r>
              <a:rPr lang="en-GB" dirty="0" err="1"/>
              <a:t>Conocemos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output a priori?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4183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III.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/>
              <a:t>supervisado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no </a:t>
            </a:r>
            <a:r>
              <a:rPr lang="en-GB" dirty="0" err="1"/>
              <a:t>supervisado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3952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módulo</a:t>
            </a:r>
            <a:r>
              <a:rPr lang="en-GB" dirty="0"/>
              <a:t> 3 </a:t>
            </a:r>
            <a:r>
              <a:rPr lang="en-GB" dirty="0" err="1"/>
              <a:t>veremos</a:t>
            </a:r>
            <a:r>
              <a:rPr lang="en-GB" dirty="0"/>
              <a:t>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/>
              <a:t>supervisado</a:t>
            </a:r>
            <a:endParaRPr dirty="0"/>
          </a:p>
        </p:txBody>
      </p:sp>
      <p:sp>
        <p:nvSpPr>
          <p:cNvPr id="239" name="Google Shape;239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600" b="1" dirty="0" err="1">
                <a:solidFill>
                  <a:schemeClr val="lt1"/>
                </a:solidFill>
              </a:rPr>
              <a:t>Aprendizaje</a:t>
            </a:r>
            <a:r>
              <a:rPr lang="en-GB" sz="2600" b="1" dirty="0">
                <a:solidFill>
                  <a:schemeClr val="lt1"/>
                </a:solidFill>
              </a:rPr>
              <a:t> </a:t>
            </a:r>
            <a:r>
              <a:rPr lang="en-GB" sz="2600" b="1" dirty="0" err="1">
                <a:solidFill>
                  <a:schemeClr val="lt1"/>
                </a:solidFill>
              </a:rPr>
              <a:t>supervisado</a:t>
            </a:r>
            <a:r>
              <a:rPr lang="en-GB" sz="2600" b="1" dirty="0">
                <a:solidFill>
                  <a:schemeClr val="lt1"/>
                </a:solidFill>
              </a:rPr>
              <a:t> (supervised learning)</a:t>
            </a:r>
            <a:endParaRPr sz="26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Conocemos</a:t>
            </a:r>
            <a:r>
              <a:rPr lang="en-GB" sz="2000" dirty="0">
                <a:solidFill>
                  <a:schemeClr val="lt1"/>
                </a:solidFill>
              </a:rPr>
              <a:t> los </a:t>
            </a:r>
            <a:r>
              <a:rPr lang="en-GB" sz="2000" dirty="0" err="1">
                <a:solidFill>
                  <a:schemeClr val="lt1"/>
                </a:solidFill>
              </a:rPr>
              <a:t>valores</a:t>
            </a:r>
            <a:r>
              <a:rPr lang="en-GB" sz="2000" dirty="0">
                <a:solidFill>
                  <a:schemeClr val="lt1"/>
                </a:solidFill>
              </a:rPr>
              <a:t> de Y para un set de </a:t>
            </a:r>
            <a:r>
              <a:rPr lang="en-GB" sz="2000" dirty="0" err="1">
                <a:solidFill>
                  <a:schemeClr val="lt1"/>
                </a:solidFill>
              </a:rPr>
              <a:t>casos</a:t>
            </a:r>
            <a:r>
              <a:rPr lang="en-GB" sz="2000" dirty="0">
                <a:solidFill>
                  <a:schemeClr val="lt1"/>
                </a:solidFill>
              </a:rPr>
              <a:t> y </a:t>
            </a:r>
            <a:r>
              <a:rPr lang="en-GB" sz="2000" dirty="0" err="1">
                <a:solidFill>
                  <a:schemeClr val="lt1"/>
                </a:solidFill>
              </a:rPr>
              <a:t>estimamos</a:t>
            </a:r>
            <a:r>
              <a:rPr lang="en-GB" sz="2000" dirty="0">
                <a:solidFill>
                  <a:schemeClr val="lt1"/>
                </a:solidFill>
              </a:rPr>
              <a:t> la </a:t>
            </a:r>
            <a:r>
              <a:rPr lang="en-GB" sz="2000" dirty="0" err="1">
                <a:solidFill>
                  <a:schemeClr val="lt1"/>
                </a:solidFill>
              </a:rPr>
              <a:t>función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i="1" dirty="0">
                <a:solidFill>
                  <a:schemeClr val="lt1"/>
                </a:solidFill>
              </a:rPr>
              <a:t>f</a:t>
            </a:r>
            <a:r>
              <a:rPr lang="en-GB" sz="2000" dirty="0">
                <a:solidFill>
                  <a:schemeClr val="lt1"/>
                </a:solidFill>
              </a:rPr>
              <a:t> que </a:t>
            </a:r>
            <a:r>
              <a:rPr lang="en-GB" sz="2000" dirty="0" err="1">
                <a:solidFill>
                  <a:schemeClr val="lt1"/>
                </a:solidFill>
              </a:rPr>
              <a:t>relaciona</a:t>
            </a:r>
            <a:r>
              <a:rPr lang="en-GB" sz="2000" dirty="0">
                <a:solidFill>
                  <a:schemeClr val="lt1"/>
                </a:solidFill>
              </a:rPr>
              <a:t> X con Y para </a:t>
            </a:r>
            <a:r>
              <a:rPr lang="en-GB" sz="2000" dirty="0" err="1">
                <a:solidFill>
                  <a:schemeClr val="lt1"/>
                </a:solidFill>
              </a:rPr>
              <a:t>predecir</a:t>
            </a:r>
            <a:r>
              <a:rPr lang="en-GB" sz="2000" dirty="0">
                <a:solidFill>
                  <a:schemeClr val="lt1"/>
                </a:solidFill>
              </a:rPr>
              <a:t> Y </a:t>
            </a:r>
            <a:r>
              <a:rPr lang="en-GB" sz="2000" dirty="0" err="1">
                <a:solidFill>
                  <a:schemeClr val="lt1"/>
                </a:solidFill>
              </a:rPr>
              <a:t>futuros</a:t>
            </a:r>
            <a:r>
              <a:rPr lang="en-GB" sz="2000" dirty="0">
                <a:solidFill>
                  <a:schemeClr val="lt1"/>
                </a:solidFill>
              </a:rPr>
              <a:t> o </a:t>
            </a:r>
            <a:r>
              <a:rPr lang="en-GB" sz="2000" dirty="0" err="1">
                <a:solidFill>
                  <a:schemeClr val="lt1"/>
                </a:solidFill>
              </a:rPr>
              <a:t>inferir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relaciones</a:t>
            </a:r>
            <a:r>
              <a:rPr lang="en-GB" sz="2000" dirty="0">
                <a:solidFill>
                  <a:schemeClr val="lt1"/>
                </a:solidFill>
              </a:rPr>
              <a:t> (</a:t>
            </a:r>
            <a:r>
              <a:rPr lang="en-GB" sz="2000" dirty="0" err="1">
                <a:solidFill>
                  <a:schemeClr val="lt1"/>
                </a:solidFill>
              </a:rPr>
              <a:t>regresiones</a:t>
            </a:r>
            <a:r>
              <a:rPr lang="en-GB" sz="2000" dirty="0">
                <a:solidFill>
                  <a:schemeClr val="lt1"/>
                </a:solidFill>
              </a:rPr>
              <a:t>, </a:t>
            </a:r>
            <a:r>
              <a:rPr lang="en-GB" sz="2000" dirty="0" err="1">
                <a:solidFill>
                  <a:schemeClr val="lt1"/>
                </a:solidFill>
              </a:rPr>
              <a:t>clasificaciones</a:t>
            </a:r>
            <a:r>
              <a:rPr lang="en-GB" sz="2000" dirty="0">
                <a:solidFill>
                  <a:schemeClr val="lt1"/>
                </a:solidFill>
              </a:rPr>
              <a:t>, etc.)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240" name="Google Shape;240;p41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 b="1" dirty="0" err="1"/>
              <a:t>Aprendizaje</a:t>
            </a:r>
            <a:r>
              <a:rPr lang="en-GB" sz="2200" b="1" dirty="0"/>
              <a:t> no </a:t>
            </a:r>
            <a:r>
              <a:rPr lang="en-GB" sz="2200" b="1" dirty="0" err="1"/>
              <a:t>supervisado</a:t>
            </a:r>
            <a:r>
              <a:rPr lang="en-GB" sz="2200" b="1" dirty="0"/>
              <a:t> (unsupervised learning)</a:t>
            </a:r>
            <a:endParaRPr sz="2200" b="1" dirty="0"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700" dirty="0"/>
              <a:t>No </a:t>
            </a:r>
            <a:r>
              <a:rPr lang="en-GB" sz="1700" dirty="0" err="1"/>
              <a:t>conocemos</a:t>
            </a:r>
            <a:r>
              <a:rPr lang="en-GB" sz="1700" dirty="0"/>
              <a:t> los </a:t>
            </a:r>
            <a:r>
              <a:rPr lang="en-GB" sz="1700" dirty="0" err="1"/>
              <a:t>posibles</a:t>
            </a:r>
            <a:r>
              <a:rPr lang="en-GB" sz="1700" dirty="0"/>
              <a:t> </a:t>
            </a:r>
            <a:r>
              <a:rPr lang="en-GB" sz="1700" dirty="0" err="1"/>
              <a:t>valores</a:t>
            </a:r>
            <a:r>
              <a:rPr lang="en-GB" sz="1700" dirty="0"/>
              <a:t> </a:t>
            </a:r>
            <a:r>
              <a:rPr lang="en-GB" sz="1700" dirty="0" err="1"/>
              <a:t>objetivo</a:t>
            </a:r>
            <a:r>
              <a:rPr lang="en-GB" sz="1700" dirty="0"/>
              <a:t> de Y que </a:t>
            </a:r>
            <a:r>
              <a:rPr lang="en-GB" sz="1700" dirty="0" err="1"/>
              <a:t>buscamos</a:t>
            </a:r>
            <a:r>
              <a:rPr lang="en-GB" sz="1700" dirty="0"/>
              <a:t> (por </a:t>
            </a:r>
            <a:r>
              <a:rPr lang="en-GB" sz="1700" dirty="0" err="1"/>
              <a:t>ejemplo</a:t>
            </a:r>
            <a:r>
              <a:rPr lang="en-GB" sz="1700" dirty="0"/>
              <a:t>, clustering).</a:t>
            </a:r>
            <a:endParaRPr sz="1700" dirty="0"/>
          </a:p>
        </p:txBody>
      </p:sp>
    </p:spTree>
    <p:extLst>
      <p:ext uri="{BB962C8B-B14F-4D97-AF65-F5344CB8AC3E}">
        <p14:creationId xmlns:p14="http://schemas.microsoft.com/office/powerpoint/2010/main" val="33935333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</a:t>
            </a:r>
            <a:r>
              <a:rPr lang="en-GB" dirty="0" err="1"/>
              <a:t>Qué</a:t>
            </a:r>
            <a:r>
              <a:rPr lang="en-GB" dirty="0"/>
              <a:t> </a:t>
            </a:r>
            <a:r>
              <a:rPr lang="en-GB" dirty="0" err="1"/>
              <a:t>modelizar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IV.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regresión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clasificación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Predecir un valor o clasificar en una categoría</a:t>
            </a:r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body" idx="1"/>
          </p:nvPr>
        </p:nvSpPr>
        <p:spPr>
          <a:xfrm>
            <a:off x="5069325" y="1152475"/>
            <a:ext cx="3762900" cy="37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modelos</a:t>
            </a:r>
            <a:r>
              <a:rPr lang="en-GB" dirty="0"/>
              <a:t> de </a:t>
            </a:r>
            <a:r>
              <a:rPr lang="en-GB" b="1" dirty="0" err="1">
                <a:highlight>
                  <a:schemeClr val="lt2"/>
                </a:highlight>
              </a:rPr>
              <a:t>regresión</a:t>
            </a:r>
            <a:r>
              <a:rPr lang="en-GB" dirty="0"/>
              <a:t>, Y es </a:t>
            </a:r>
            <a:r>
              <a:rPr lang="en-GB" dirty="0" err="1"/>
              <a:t>una</a:t>
            </a:r>
            <a:r>
              <a:rPr lang="en-GB" dirty="0"/>
              <a:t> variable </a:t>
            </a:r>
            <a:r>
              <a:rPr lang="en-GB" dirty="0" err="1"/>
              <a:t>cuantitativa</a:t>
            </a:r>
            <a:r>
              <a:rPr lang="en-GB" dirty="0"/>
              <a:t>. El </a:t>
            </a:r>
            <a:r>
              <a:rPr lang="en-GB" dirty="0" err="1"/>
              <a:t>modelo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proporciona</a:t>
            </a:r>
            <a:r>
              <a:rPr lang="en-GB" dirty="0"/>
              <a:t> una </a:t>
            </a:r>
            <a:r>
              <a:rPr lang="en-GB" dirty="0" err="1"/>
              <a:t>función</a:t>
            </a:r>
            <a:r>
              <a:rPr lang="en-GB" dirty="0"/>
              <a:t> que </a:t>
            </a:r>
            <a:r>
              <a:rPr lang="en-GB" dirty="0" err="1"/>
              <a:t>nos</a:t>
            </a:r>
            <a:r>
              <a:rPr lang="en-GB" dirty="0"/>
              <a:t> da </a:t>
            </a:r>
            <a:r>
              <a:rPr lang="en-GB" dirty="0" err="1"/>
              <a:t>valores</a:t>
            </a:r>
            <a:r>
              <a:rPr lang="en-GB" dirty="0"/>
              <a:t> </a:t>
            </a:r>
            <a:r>
              <a:rPr lang="en-GB"/>
              <a:t>predichos </a:t>
            </a:r>
            <a:r>
              <a:rPr lang="en-GB" dirty="0"/>
              <a:t>de Y para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valores</a:t>
            </a:r>
            <a:r>
              <a:rPr lang="en-GB" dirty="0"/>
              <a:t> de X₁, X₂, etc.</a:t>
            </a:r>
            <a:endParaRPr dirty="0"/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modelos</a:t>
            </a:r>
            <a:r>
              <a:rPr lang="en-GB" dirty="0"/>
              <a:t> de </a:t>
            </a:r>
            <a:r>
              <a:rPr lang="en-GB" b="1" dirty="0" err="1">
                <a:highlight>
                  <a:schemeClr val="lt2"/>
                </a:highlight>
              </a:rPr>
              <a:t>clasificación</a:t>
            </a:r>
            <a:r>
              <a:rPr lang="en-GB" dirty="0"/>
              <a:t>, Y es </a:t>
            </a:r>
            <a:r>
              <a:rPr lang="en-GB" dirty="0" err="1"/>
              <a:t>una</a:t>
            </a:r>
            <a:r>
              <a:rPr lang="en-GB" dirty="0"/>
              <a:t> variable </a:t>
            </a:r>
            <a:r>
              <a:rPr lang="en-GB" dirty="0" err="1"/>
              <a:t>categórica</a:t>
            </a:r>
            <a:r>
              <a:rPr lang="en-GB" dirty="0"/>
              <a:t> y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da la </a:t>
            </a:r>
            <a:r>
              <a:rPr lang="en-GB" dirty="0" err="1"/>
              <a:t>probabilidad</a:t>
            </a:r>
            <a:r>
              <a:rPr lang="en-GB" dirty="0"/>
              <a:t> de que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caso</a:t>
            </a:r>
            <a:r>
              <a:rPr lang="en-GB" dirty="0"/>
              <a:t> </a:t>
            </a:r>
            <a:r>
              <a:rPr lang="en-GB" dirty="0" err="1"/>
              <a:t>quede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categoría</a:t>
            </a:r>
            <a:r>
              <a:rPr lang="en-GB" dirty="0"/>
              <a:t>.</a:t>
            </a:r>
            <a:endParaRPr dirty="0"/>
          </a:p>
        </p:txBody>
      </p:sp>
      <p:pic>
        <p:nvPicPr>
          <p:cNvPr id="200" name="Google Shape;20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152475"/>
            <a:ext cx="4603047" cy="375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6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Cómo modelizar?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paramétricos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no </a:t>
            </a:r>
            <a:r>
              <a:rPr lang="en-GB" dirty="0" err="1"/>
              <a:t>paramétricos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Asumir</a:t>
            </a:r>
            <a:r>
              <a:rPr lang="en-GB" dirty="0"/>
              <a:t> la forma de </a:t>
            </a:r>
            <a:r>
              <a:rPr lang="en-GB" i="1" dirty="0"/>
              <a:t>f</a:t>
            </a:r>
            <a:r>
              <a:rPr lang="en-GB" dirty="0"/>
              <a:t> o no </a:t>
            </a:r>
            <a:r>
              <a:rPr lang="en-GB" dirty="0" err="1"/>
              <a:t>asumirla</a:t>
            </a:r>
            <a:endParaRPr dirty="0"/>
          </a:p>
        </p:txBody>
      </p:sp>
      <p:pic>
        <p:nvPicPr>
          <p:cNvPr id="221" name="Google Shape;22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2273" y="1946355"/>
            <a:ext cx="3970025" cy="3084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23679"/>
            <a:ext cx="3885219" cy="3084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8"/>
          <p:cNvSpPr txBox="1">
            <a:spLocks noGrp="1"/>
          </p:cNvSpPr>
          <p:nvPr>
            <p:ph type="body" idx="1"/>
          </p:nvPr>
        </p:nvSpPr>
        <p:spPr>
          <a:xfrm>
            <a:off x="311625" y="1076275"/>
            <a:ext cx="8520600" cy="8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Los </a:t>
            </a:r>
            <a:r>
              <a:rPr lang="en-GB" dirty="0" err="1"/>
              <a:t>modelos</a:t>
            </a:r>
            <a:r>
              <a:rPr lang="en-GB" dirty="0"/>
              <a:t> </a:t>
            </a:r>
            <a:r>
              <a:rPr lang="en-GB" b="1" dirty="0" err="1"/>
              <a:t>paramétricos</a:t>
            </a:r>
            <a:r>
              <a:rPr lang="en-GB" dirty="0"/>
              <a:t> </a:t>
            </a:r>
            <a:r>
              <a:rPr lang="en-GB" dirty="0" err="1"/>
              <a:t>asumen</a:t>
            </a:r>
            <a:r>
              <a:rPr lang="en-GB" dirty="0"/>
              <a:t> la </a:t>
            </a:r>
            <a:r>
              <a:rPr lang="en-GB" dirty="0">
                <a:highlight>
                  <a:schemeClr val="lt2"/>
                </a:highlight>
              </a:rPr>
              <a:t>forma de la </a:t>
            </a:r>
            <a:r>
              <a:rPr lang="en-GB" dirty="0" err="1">
                <a:highlight>
                  <a:schemeClr val="lt2"/>
                </a:highlight>
              </a:rPr>
              <a:t>función</a:t>
            </a:r>
            <a:r>
              <a:rPr lang="en-GB" dirty="0"/>
              <a:t>. Los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/>
              <a:t>no </a:t>
            </a:r>
            <a:r>
              <a:rPr lang="en-GB" b="1" dirty="0" err="1"/>
              <a:t>paramétricos</a:t>
            </a:r>
            <a:r>
              <a:rPr lang="en-GB" dirty="0"/>
              <a:t>, </a:t>
            </a:r>
            <a:r>
              <a:rPr lang="en-GB" dirty="0">
                <a:highlight>
                  <a:schemeClr val="lt2"/>
                </a:highlight>
              </a:rPr>
              <a:t>no</a:t>
            </a:r>
            <a:r>
              <a:rPr lang="en-GB" dirty="0"/>
              <a:t>, y </a:t>
            </a:r>
            <a:r>
              <a:rPr lang="en-GB" dirty="0" err="1"/>
              <a:t>pueden</a:t>
            </a:r>
            <a:r>
              <a:rPr lang="en-GB" dirty="0"/>
              <a:t> </a:t>
            </a:r>
            <a:r>
              <a:rPr lang="en-GB" dirty="0" err="1"/>
              <a:t>tener</a:t>
            </a:r>
            <a:r>
              <a:rPr lang="en-GB" dirty="0"/>
              <a:t>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formas</a:t>
            </a:r>
            <a:r>
              <a:rPr lang="en-GB" dirty="0"/>
              <a:t> para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valores</a:t>
            </a:r>
            <a:r>
              <a:rPr lang="en-GB" dirty="0"/>
              <a:t> de X.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Modelos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 err="1">
                <a:solidFill>
                  <a:schemeClr val="bg2"/>
                </a:solidFill>
              </a:rPr>
              <a:t>paramétricos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607449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Pasos</a:t>
            </a:r>
            <a:r>
              <a:rPr lang="es-AR" dirty="0"/>
              <a:t> a seguir:</a:t>
            </a:r>
          </a:p>
          <a:p>
            <a:pPr marL="800100" lvl="1">
              <a:buFont typeface="+mj-lt"/>
              <a:buAutoNum type="arabicPeriod"/>
            </a:pPr>
            <a:r>
              <a:rPr lang="es-AR" sz="1800" dirty="0"/>
              <a:t>Suponemos que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 tiene cierta forma funcional.</a:t>
            </a:r>
          </a:p>
          <a:p>
            <a:pPr marL="800100" lvl="1">
              <a:buFont typeface="+mj-lt"/>
              <a:buAutoNum type="arabicPeriod"/>
            </a:pPr>
            <a:r>
              <a:rPr lang="es-AR" sz="1800" dirty="0"/>
              <a:t>Ajustamos el modelo.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Suponer una forma funcional simplifica la estimación de los parámetros.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Desventajas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La forma funcional que elegimos difícilmente coincida con la forma real de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 .</a:t>
            </a:r>
            <a:endParaRPr lang="es-AR" sz="1800" i="1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s-AR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b="1" dirty="0"/>
          </a:p>
        </p:txBody>
      </p:sp>
      <p:pic>
        <p:nvPicPr>
          <p:cNvPr id="7" name="Gráfico 6" descr="Configuración contorno">
            <a:extLst>
              <a:ext uri="{FF2B5EF4-FFF2-40B4-BE49-F238E27FC236}">
                <a16:creationId xmlns:a16="http://schemas.microsoft.com/office/drawing/2014/main" id="{DFB21B91-E122-E278-3976-1817269279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5684" y="153067"/>
            <a:ext cx="1156616" cy="11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924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Modelos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>
                <a:solidFill>
                  <a:schemeClr val="accent2"/>
                </a:solidFill>
              </a:rPr>
              <a:t>no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 err="1">
                <a:solidFill>
                  <a:schemeClr val="bg2"/>
                </a:solidFill>
              </a:rPr>
              <a:t>paramétricos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7955376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Al no suponer una forma funcional para f, tienen el potencial de ajustarse con </a:t>
            </a:r>
            <a:r>
              <a:rPr lang="es-AR" sz="1800" b="1" dirty="0"/>
              <a:t>precisión</a:t>
            </a:r>
            <a:r>
              <a:rPr lang="es-AR" sz="1800" dirty="0"/>
              <a:t> a una gama más amplia de formas posibles para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Desventajas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Necesitamos una </a:t>
            </a:r>
            <a:r>
              <a:rPr lang="es-AR" sz="1800" b="1" dirty="0"/>
              <a:t>cantidad de observaciones </a:t>
            </a:r>
            <a:r>
              <a:rPr lang="es-AR" sz="1800" dirty="0"/>
              <a:t>mayor que en el caso de los modelos paramétricos.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Peligro de </a:t>
            </a:r>
            <a:r>
              <a:rPr lang="es-AR" sz="1800" b="1" dirty="0" err="1"/>
              <a:t>overfitting</a:t>
            </a:r>
            <a:r>
              <a:rPr lang="es-AR" sz="1800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" name="Gráfico 1" descr="Configuración contorno">
            <a:extLst>
              <a:ext uri="{FF2B5EF4-FFF2-40B4-BE49-F238E27FC236}">
                <a16:creationId xmlns:a16="http://schemas.microsoft.com/office/drawing/2014/main" id="{C3298CCE-63AF-4734-4C44-7C0BFC1DED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5684" y="153067"/>
            <a:ext cx="1156616" cy="11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Nos interesa más el cuánto o el cómo?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VI.Trade-off precisión-interpretabilidad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Precisión a cualquier costo no es siempre lo mejor</a:t>
            </a:r>
            <a:endParaRPr/>
          </a:p>
        </p:txBody>
      </p:sp>
      <p:sp>
        <p:nvSpPr>
          <p:cNvPr id="257" name="Google Shape;257;p44"/>
          <p:cNvSpPr txBox="1">
            <a:spLocks noGrp="1"/>
          </p:cNvSpPr>
          <p:nvPr>
            <p:ph type="body" idx="1"/>
          </p:nvPr>
        </p:nvSpPr>
        <p:spPr>
          <a:xfrm>
            <a:off x="311625" y="1152475"/>
            <a:ext cx="4819500" cy="3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 err="1"/>
              <a:t>Modelos</a:t>
            </a:r>
            <a:r>
              <a:rPr lang="en-GB" dirty="0"/>
              <a:t> </a:t>
            </a:r>
            <a:r>
              <a:rPr lang="en-GB" dirty="0" err="1"/>
              <a:t>más</a:t>
            </a:r>
            <a:r>
              <a:rPr lang="en-GB" dirty="0"/>
              <a:t> </a:t>
            </a:r>
            <a:r>
              <a:rPr lang="en-GB" dirty="0" err="1"/>
              <a:t>precisos</a:t>
            </a:r>
            <a:r>
              <a:rPr lang="en-GB" dirty="0"/>
              <a:t> y </a:t>
            </a:r>
            <a:r>
              <a:rPr lang="en-GB" dirty="0" err="1"/>
              <a:t>menos</a:t>
            </a:r>
            <a:r>
              <a:rPr lang="en-GB" dirty="0"/>
              <a:t> </a:t>
            </a:r>
            <a:r>
              <a:rPr lang="en-GB" dirty="0" err="1"/>
              <a:t>restrictivos</a:t>
            </a:r>
            <a:r>
              <a:rPr lang="en-GB" dirty="0"/>
              <a:t> (no </a:t>
            </a:r>
            <a:r>
              <a:rPr lang="en-GB" dirty="0" err="1"/>
              <a:t>paramétricos</a:t>
            </a:r>
            <a:r>
              <a:rPr lang="en-GB" dirty="0"/>
              <a:t>, no </a:t>
            </a:r>
            <a:r>
              <a:rPr lang="en-GB" dirty="0" err="1"/>
              <a:t>lineales</a:t>
            </a:r>
            <a:r>
              <a:rPr lang="en-GB" dirty="0"/>
              <a:t> o que </a:t>
            </a:r>
            <a:r>
              <a:rPr lang="en-GB" dirty="0" err="1"/>
              <a:t>incorporen</a:t>
            </a:r>
            <a:r>
              <a:rPr lang="en-GB" dirty="0"/>
              <a:t> un alto </a:t>
            </a:r>
            <a:r>
              <a:rPr lang="en-GB" dirty="0" err="1"/>
              <a:t>número</a:t>
            </a:r>
            <a:r>
              <a:rPr lang="en-GB" dirty="0"/>
              <a:t> de variables </a:t>
            </a:r>
            <a:r>
              <a:rPr lang="en-GB" dirty="0" err="1"/>
              <a:t>independientes</a:t>
            </a:r>
            <a:r>
              <a:rPr lang="en-GB" dirty="0"/>
              <a:t>) </a:t>
            </a:r>
            <a:r>
              <a:rPr lang="en-GB" dirty="0" err="1"/>
              <a:t>reducen</a:t>
            </a:r>
            <a:r>
              <a:rPr lang="en-GB" dirty="0"/>
              <a:t> la </a:t>
            </a:r>
            <a:r>
              <a:rPr lang="en-GB" dirty="0" err="1">
                <a:highlight>
                  <a:schemeClr val="lt2"/>
                </a:highlight>
              </a:rPr>
              <a:t>interpretabilidad</a:t>
            </a:r>
            <a:r>
              <a:rPr lang="en-GB" dirty="0"/>
              <a:t> de las </a:t>
            </a:r>
            <a:r>
              <a:rPr lang="en-GB" dirty="0" err="1"/>
              <a:t>relaciones</a:t>
            </a:r>
            <a:r>
              <a:rPr lang="en-GB" dirty="0"/>
              <a:t>. Es </a:t>
            </a:r>
            <a:r>
              <a:rPr lang="en-GB" dirty="0" err="1"/>
              <a:t>necesario</a:t>
            </a:r>
            <a:r>
              <a:rPr lang="en-GB" dirty="0"/>
              <a:t> </a:t>
            </a:r>
            <a:r>
              <a:rPr lang="en-GB" dirty="0" err="1"/>
              <a:t>evaluar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la </a:t>
            </a:r>
            <a:r>
              <a:rPr lang="en-GB" dirty="0" err="1"/>
              <a:t>ganancia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precisión</a:t>
            </a:r>
            <a:r>
              <a:rPr lang="en-GB" dirty="0"/>
              <a:t> </a:t>
            </a:r>
            <a:r>
              <a:rPr lang="en-GB" dirty="0" err="1"/>
              <a:t>compensa</a:t>
            </a:r>
            <a:r>
              <a:rPr lang="en-GB" dirty="0"/>
              <a:t> ese </a:t>
            </a:r>
            <a:r>
              <a:rPr lang="en-GB" dirty="0" err="1"/>
              <a:t>costo</a:t>
            </a:r>
            <a:r>
              <a:rPr lang="en-GB" dirty="0"/>
              <a:t> (</a:t>
            </a:r>
            <a:r>
              <a:rPr lang="en-GB" dirty="0" err="1"/>
              <a:t>además</a:t>
            </a:r>
            <a:r>
              <a:rPr lang="en-GB" dirty="0"/>
              <a:t> de la mayor </a:t>
            </a:r>
            <a:r>
              <a:rPr lang="en-GB" dirty="0" err="1"/>
              <a:t>posibilidad</a:t>
            </a:r>
            <a:r>
              <a:rPr lang="en-GB" dirty="0"/>
              <a:t> de </a:t>
            </a:r>
            <a:r>
              <a:rPr lang="en-GB" i="1" dirty="0">
                <a:highlight>
                  <a:schemeClr val="lt2"/>
                </a:highlight>
              </a:rPr>
              <a:t>overfitting</a:t>
            </a:r>
            <a:r>
              <a:rPr lang="en-GB" dirty="0"/>
              <a:t>).</a:t>
            </a:r>
            <a:endParaRPr dirty="0"/>
          </a:p>
        </p:txBody>
      </p:sp>
      <p:pic>
        <p:nvPicPr>
          <p:cNvPr id="3" name="Imagen 2" descr="Foto montaje de la cara de un hombre&#10;&#10;Descripción generada automáticamente">
            <a:extLst>
              <a:ext uri="{FF2B5EF4-FFF2-40B4-BE49-F238E27FC236}">
                <a16:creationId xmlns:a16="http://schemas.microsoft.com/office/drawing/2014/main" id="{953C5343-24A6-3828-11B7-0CFF9FC96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16" y="2029613"/>
            <a:ext cx="3332284" cy="149692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5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VII.Trade-off sesgo-varianza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Buscar el mejor equilibrio para cada modelo</a:t>
            </a:r>
            <a:endParaRPr/>
          </a:p>
        </p:txBody>
      </p:sp>
      <p:sp>
        <p:nvSpPr>
          <p:cNvPr id="268" name="Google Shape;268;p46"/>
          <p:cNvSpPr txBox="1">
            <a:spLocks noGrp="1"/>
          </p:cNvSpPr>
          <p:nvPr>
            <p:ph type="body" idx="1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highlight>
                  <a:schemeClr val="lt2"/>
                </a:highlight>
              </a:rPr>
              <a:t>Varianza</a:t>
            </a:r>
            <a:r>
              <a:rPr lang="en-GB" b="1" dirty="0"/>
              <a:t>: </a:t>
            </a:r>
            <a:r>
              <a:rPr lang="en-GB" dirty="0" err="1"/>
              <a:t>cantidad</a:t>
            </a:r>
            <a:r>
              <a:rPr lang="en-GB" dirty="0"/>
              <a:t> que </a:t>
            </a:r>
            <a:r>
              <a:rPr lang="en-GB" dirty="0" err="1"/>
              <a:t>variaría</a:t>
            </a:r>
            <a:r>
              <a:rPr lang="en-GB" dirty="0"/>
              <a:t> la </a:t>
            </a:r>
            <a:r>
              <a:rPr lang="en-GB" dirty="0" err="1"/>
              <a:t>estimación</a:t>
            </a:r>
            <a:r>
              <a:rPr lang="en-GB" dirty="0"/>
              <a:t> de </a:t>
            </a:r>
            <a:r>
              <a:rPr lang="en-GB" i="1" dirty="0"/>
              <a:t>f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usarámos</a:t>
            </a:r>
            <a:r>
              <a:rPr lang="en-GB" dirty="0"/>
              <a:t> </a:t>
            </a:r>
            <a:r>
              <a:rPr lang="en-GB" dirty="0" err="1"/>
              <a:t>otro</a:t>
            </a:r>
            <a:r>
              <a:rPr lang="en-GB" dirty="0"/>
              <a:t> </a:t>
            </a:r>
            <a:r>
              <a:rPr lang="en-GB" i="1" dirty="0"/>
              <a:t>set</a:t>
            </a:r>
            <a:r>
              <a:rPr lang="en-GB" dirty="0"/>
              <a:t> de </a:t>
            </a:r>
            <a:r>
              <a:rPr lang="en-GB" dirty="0" err="1"/>
              <a:t>entrenamiento</a:t>
            </a:r>
            <a:r>
              <a:rPr lang="en-GB" dirty="0"/>
              <a:t>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flexibles </a:t>
            </a:r>
            <a:r>
              <a:rPr lang="en-GB" dirty="0" err="1"/>
              <a:t>tienen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</a:t>
            </a:r>
            <a:r>
              <a:rPr lang="en-GB" b="1" dirty="0" err="1"/>
              <a:t>varianza</a:t>
            </a:r>
            <a:r>
              <a:rPr lang="en-GB" dirty="0"/>
              <a:t>.</a:t>
            </a:r>
            <a:endParaRPr dirty="0"/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dirty="0" err="1">
                <a:highlight>
                  <a:schemeClr val="lt2"/>
                </a:highlight>
              </a:rPr>
              <a:t>Sesgo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cualidad</a:t>
            </a:r>
            <a:r>
              <a:rPr lang="en-GB" dirty="0"/>
              <a:t> del </a:t>
            </a:r>
            <a:r>
              <a:rPr lang="en-GB" dirty="0" err="1"/>
              <a:t>modelo</a:t>
            </a:r>
            <a:r>
              <a:rPr lang="en-GB" dirty="0"/>
              <a:t> de </a:t>
            </a:r>
            <a:r>
              <a:rPr lang="en-GB" dirty="0" err="1"/>
              <a:t>sistemáticamente</a:t>
            </a:r>
            <a:r>
              <a:rPr lang="en-GB" dirty="0"/>
              <a:t> </a:t>
            </a:r>
            <a:r>
              <a:rPr lang="en-GB" dirty="0" err="1"/>
              <a:t>subestimar</a:t>
            </a:r>
            <a:r>
              <a:rPr lang="en-GB" dirty="0"/>
              <a:t> o </a:t>
            </a:r>
            <a:r>
              <a:rPr lang="en-GB" dirty="0" err="1"/>
              <a:t>sobreestimar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valor</a:t>
            </a:r>
            <a:r>
              <a:rPr lang="en-GB" dirty="0"/>
              <a:t> a </a:t>
            </a:r>
            <a:r>
              <a:rPr lang="en-GB" dirty="0" err="1"/>
              <a:t>predecir</a:t>
            </a:r>
            <a:r>
              <a:rPr lang="en-GB" dirty="0"/>
              <a:t>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 err="1"/>
              <a:t>menos</a:t>
            </a:r>
            <a:r>
              <a:rPr lang="en-GB" b="1" dirty="0"/>
              <a:t> flexibles</a:t>
            </a:r>
            <a:r>
              <a:rPr lang="en-GB" dirty="0"/>
              <a:t> </a:t>
            </a:r>
            <a:r>
              <a:rPr lang="en-GB" dirty="0" err="1"/>
              <a:t>tienen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</a:t>
            </a:r>
            <a:r>
              <a:rPr lang="en-GB" b="1" dirty="0" err="1"/>
              <a:t>sesgo</a:t>
            </a:r>
            <a:r>
              <a:rPr lang="en-GB" dirty="0"/>
              <a:t>.</a:t>
            </a:r>
            <a:endParaRPr dirty="0"/>
          </a:p>
        </p:txBody>
      </p:sp>
      <p:pic>
        <p:nvPicPr>
          <p:cNvPr id="269" name="Google Shape;26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267200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¿Cuán</a:t>
            </a:r>
            <a:r>
              <a:rPr lang="en-GB" dirty="0"/>
              <a:t> bueno es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VIII. Calidad del fit: Train-Test split y </a:t>
            </a:r>
            <a:r>
              <a:rPr lang="en-GB" dirty="0" err="1"/>
              <a:t>métricas</a:t>
            </a:r>
            <a:r>
              <a:rPr lang="en-GB" dirty="0"/>
              <a:t> </a:t>
            </a:r>
            <a:r>
              <a:rPr lang="en-GB" dirty="0" err="1"/>
              <a:t>básicas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El </a:t>
            </a:r>
            <a:r>
              <a:rPr lang="en-GB" sz="2000" dirty="0" err="1">
                <a:latin typeface="+mj-lt"/>
              </a:rPr>
              <a:t>problema</a:t>
            </a:r>
            <a:r>
              <a:rPr lang="en-GB" sz="2000" dirty="0">
                <a:latin typeface="+mj-lt"/>
              </a:rPr>
              <a:t> del overfitting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76947B-D44F-E647-1A67-6EB92A1FD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700" y="825293"/>
            <a:ext cx="5286375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magen que contiene edificio, caja, ladrillo&#10;&#10;Descripción generada automáticamente">
            <a:extLst>
              <a:ext uri="{FF2B5EF4-FFF2-40B4-BE49-F238E27FC236}">
                <a16:creationId xmlns:a16="http://schemas.microsoft.com/office/drawing/2014/main" id="{E5087688-1A92-5B0F-3E1E-4C7C8DE49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62" y="784080"/>
            <a:ext cx="2386380" cy="3575339"/>
          </a:xfrm>
          <a:prstGeom prst="rect">
            <a:avLst/>
          </a:prstGeom>
        </p:spPr>
      </p:pic>
      <p:sp>
        <p:nvSpPr>
          <p:cNvPr id="4" name="Google Shape;284;p49">
            <a:extLst>
              <a:ext uri="{FF2B5EF4-FFF2-40B4-BE49-F238E27FC236}">
                <a16:creationId xmlns:a16="http://schemas.microsoft.com/office/drawing/2014/main" id="{FAE7D9D0-A2FC-F0F3-CE39-09EC610C5540}"/>
              </a:ext>
            </a:extLst>
          </p:cNvPr>
          <p:cNvSpPr txBox="1">
            <a:spLocks/>
          </p:cNvSpPr>
          <p:nvPr/>
        </p:nvSpPr>
        <p:spPr>
          <a:xfrm>
            <a:off x="2838893" y="2305060"/>
            <a:ext cx="6015945" cy="2732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El problema está centralmente ligado a la </a:t>
            </a:r>
            <a:r>
              <a:rPr lang="es-MX" sz="1800" b="1" dirty="0">
                <a:solidFill>
                  <a:schemeClr val="accent3"/>
                </a:solidFill>
                <a:highlight>
                  <a:schemeClr val="lt2"/>
                </a:highlight>
              </a:rPr>
              <a:t>predicción.</a:t>
            </a:r>
          </a:p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Nuestro interés no es que el modelo tenga buenas métricas en los datos con los que se entrenó, sino que sea bueno para predecir datos nuevos</a:t>
            </a:r>
          </a:p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Overfitting se puede producir por varias causas. Ej: polinomios de muy alto grado, utilización de una gran cantidad de variables, valores de parámetros que otorgan mucha flexibilidad</a:t>
            </a:r>
          </a:p>
        </p:txBody>
      </p:sp>
    </p:spTree>
    <p:extLst>
      <p:ext uri="{BB962C8B-B14F-4D97-AF65-F5344CB8AC3E}">
        <p14:creationId xmlns:p14="http://schemas.microsoft.com/office/powerpoint/2010/main" val="326188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Train y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523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Train – Test split</a:t>
            </a:r>
          </a:p>
        </p:txBody>
      </p:sp>
      <p:sp>
        <p:nvSpPr>
          <p:cNvPr id="4" name="Google Shape;284;p49">
            <a:extLst>
              <a:ext uri="{FF2B5EF4-FFF2-40B4-BE49-F238E27FC236}">
                <a16:creationId xmlns:a16="http://schemas.microsoft.com/office/drawing/2014/main" id="{FAE7D9D0-A2FC-F0F3-CE39-09EC610C5540}"/>
              </a:ext>
            </a:extLst>
          </p:cNvPr>
          <p:cNvSpPr txBox="1">
            <a:spLocks/>
          </p:cNvSpPr>
          <p:nvPr/>
        </p:nvSpPr>
        <p:spPr>
          <a:xfrm>
            <a:off x="5007329" y="679025"/>
            <a:ext cx="3994263" cy="4357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Técnica para lidiar con el overfitting: Se evalua la calidad de las predicciones sobre </a:t>
            </a:r>
            <a:r>
              <a:rPr lang="es-MX" sz="1800" dirty="0">
                <a:solidFill>
                  <a:schemeClr val="accent3"/>
                </a:solidFill>
                <a:highlight>
                  <a:schemeClr val="lt2"/>
                </a:highlight>
              </a:rPr>
              <a:t>datos no utilizados para entrenar el modelo</a:t>
            </a:r>
            <a:r>
              <a:rPr lang="es-MX" sz="1800" dirty="0">
                <a:solidFill>
                  <a:schemeClr val="accent3"/>
                </a:solidFill>
              </a:rPr>
              <a:t> </a:t>
            </a: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Se divide el </a:t>
            </a:r>
            <a:r>
              <a:rPr lang="es-MX" sz="1800" dirty="0" err="1">
                <a:solidFill>
                  <a:schemeClr val="accent3"/>
                </a:solidFill>
              </a:rPr>
              <a:t>dataset</a:t>
            </a:r>
            <a:r>
              <a:rPr lang="es-MX" sz="1800" dirty="0">
                <a:solidFill>
                  <a:schemeClr val="accent3"/>
                </a:solidFill>
              </a:rPr>
              <a:t> utilizando una parte para entrenamiento del modelo y otra para testeo</a:t>
            </a: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Se estiman las métricas de calidad de las predicciones en la base de testeo (es decir sobre casos que no fueron utilizados para entrenar el modelo)</a:t>
            </a:r>
            <a:endParaRPr lang="es-MX" sz="1800" b="1" dirty="0">
              <a:solidFill>
                <a:schemeClr val="accent3"/>
              </a:solidFill>
              <a:highlight>
                <a:schemeClr val="lt2"/>
              </a:highlight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Para elegir modelos o </a:t>
            </a:r>
            <a:r>
              <a:rPr lang="es-MX" sz="1800" b="1" dirty="0" err="1">
                <a:solidFill>
                  <a:schemeClr val="accent3"/>
                </a:solidFill>
                <a:highlight>
                  <a:schemeClr val="lt2"/>
                </a:highlight>
              </a:rPr>
              <a:t>hiperparámetros</a:t>
            </a:r>
            <a:r>
              <a:rPr lang="es-MX" sz="1800" b="1" i="1" dirty="0">
                <a:solidFill>
                  <a:schemeClr val="accent3"/>
                </a:solidFill>
              </a:rPr>
              <a:t>,</a:t>
            </a:r>
            <a:r>
              <a:rPr lang="es-MX" sz="1800" dirty="0">
                <a:solidFill>
                  <a:schemeClr val="accent3"/>
                </a:solidFill>
              </a:rPr>
              <a:t> antes de evaluar en el </a:t>
            </a:r>
            <a:r>
              <a:rPr lang="es-MX" sz="1800" i="1" dirty="0">
                <a:solidFill>
                  <a:schemeClr val="accent3"/>
                </a:solidFill>
              </a:rPr>
              <a:t>test </a:t>
            </a:r>
            <a:r>
              <a:rPr lang="es-MX" sz="1800" dirty="0">
                <a:solidFill>
                  <a:schemeClr val="accent3"/>
                </a:solidFill>
              </a:rPr>
              <a:t>set se utilizan técnicas de </a:t>
            </a:r>
            <a:r>
              <a:rPr lang="es-MX" sz="1800" dirty="0">
                <a:solidFill>
                  <a:schemeClr val="accent3"/>
                </a:solidFill>
                <a:highlight>
                  <a:schemeClr val="lt2"/>
                </a:highlight>
              </a:rPr>
              <a:t>validación</a:t>
            </a:r>
          </a:p>
        </p:txBody>
      </p:sp>
      <p:pic>
        <p:nvPicPr>
          <p:cNvPr id="4098" name="Picture 2" descr="How to Train and Test Data Like a Pro - SDS Club">
            <a:extLst>
              <a:ext uri="{FF2B5EF4-FFF2-40B4-BE49-F238E27FC236}">
                <a16:creationId xmlns:a16="http://schemas.microsoft.com/office/drawing/2014/main" id="{85EA6626-8BF2-F225-862E-889C7E536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50" y="679026"/>
            <a:ext cx="4985179" cy="363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3841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819655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Mean </a:t>
            </a:r>
            <a:r>
              <a:rPr lang="en-GB" dirty="0" err="1"/>
              <a:t>Squeared</a:t>
            </a:r>
            <a:r>
              <a:rPr lang="en-GB" dirty="0"/>
              <a:t> Error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0220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Mean Squared </a:t>
            </a:r>
            <a:r>
              <a:rPr lang="en-GB" dirty="0"/>
              <a:t>E</a:t>
            </a:r>
            <a:r>
              <a:rPr lang="en-GB" sz="2800" dirty="0"/>
              <a:t>rror (</a:t>
            </a:r>
            <a:r>
              <a:rPr lang="en-GB" dirty="0"/>
              <a:t>MSE</a:t>
            </a:r>
            <a:r>
              <a:rPr lang="en-GB" sz="2800" dirty="0"/>
              <a:t>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texto 2">
                <a:extLst>
                  <a:ext uri="{FF2B5EF4-FFF2-40B4-BE49-F238E27FC236}">
                    <a16:creationId xmlns:a16="http://schemas.microsoft.com/office/drawing/2014/main" id="{B2A845DB-43F3-E872-8162-DA5EC9B9C5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699" y="1301261"/>
                <a:ext cx="8049785" cy="3267613"/>
              </a:xfrm>
            </p:spPr>
            <p:txBody>
              <a:bodyPr>
                <a:normAutofit/>
              </a:bodyPr>
              <a:lstStyle/>
              <a:p>
                <a:pPr marL="114300" indent="0">
                  <a:buNone/>
                </a:pPr>
                <a:r>
                  <a:rPr lang="es-AR" sz="2000" dirty="0"/>
                  <a:t>Una primera medida para </a:t>
                </a:r>
                <a:r>
                  <a:rPr lang="es-AR" sz="2000" b="1" dirty="0">
                    <a:highlight>
                      <a:schemeClr val="lt2"/>
                    </a:highlight>
                  </a:rPr>
                  <a:t>evaluar nuestro modelo</a:t>
                </a:r>
                <a:r>
                  <a:rPr lang="es-AR" sz="2000" dirty="0"/>
                  <a:t>:</a:t>
                </a:r>
              </a:p>
              <a:p>
                <a:pPr marL="114300" indent="0" algn="ctr">
                  <a:buNone/>
                </a:pPr>
                <a:endParaRPr lang="es-AR" sz="2000" dirty="0"/>
              </a:p>
              <a:p>
                <a:pPr marL="11430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AR" sz="2000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s-AR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A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A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𝑉𝑎𝑟𝑖𝑎𝑛𝑧𝑎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𝑆𝑒𝑠𝑔𝑜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s-AR" sz="2000" dirty="0"/>
              </a:p>
              <a:p>
                <a:pPr marL="114300" indent="0" algn="ctr">
                  <a:buNone/>
                </a:pPr>
                <a:endParaRPr lang="es-AR" sz="2000" dirty="0"/>
              </a:p>
              <a:p>
                <a:pPr marL="114300" indent="0">
                  <a:buNone/>
                </a:pPr>
                <a:endParaRPr lang="es-AR" sz="2000" dirty="0"/>
              </a:p>
              <a:p>
                <a:pPr marL="114300" indent="0">
                  <a:buNone/>
                </a:pPr>
                <a:r>
                  <a:rPr lang="es-AR" sz="2000" dirty="0"/>
                  <a:t>El error cuadrático medio será </a:t>
                </a:r>
                <a:r>
                  <a:rPr lang="es-AR" sz="2000" b="1" dirty="0"/>
                  <a:t>menor</a:t>
                </a:r>
                <a:r>
                  <a:rPr lang="es-AR" sz="2000" dirty="0"/>
                  <a:t> cuanto más </a:t>
                </a:r>
                <a:r>
                  <a:rPr lang="es-AR" sz="2000" b="1" dirty="0"/>
                  <a:t>cercanas</a:t>
                </a:r>
                <a:r>
                  <a:rPr lang="es-AR" sz="2000" dirty="0"/>
                  <a:t> sean nuestras predicciones a los valores reales. </a:t>
                </a:r>
              </a:p>
            </p:txBody>
          </p:sp>
        </mc:Choice>
        <mc:Fallback xmlns="">
          <p:sp>
            <p:nvSpPr>
              <p:cNvPr id="3" name="Marcador de texto 2">
                <a:extLst>
                  <a:ext uri="{FF2B5EF4-FFF2-40B4-BE49-F238E27FC236}">
                    <a16:creationId xmlns:a16="http://schemas.microsoft.com/office/drawing/2014/main" id="{B2A845DB-43F3-E872-8162-DA5EC9B9C5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699" y="1301261"/>
                <a:ext cx="8049785" cy="3267613"/>
              </a:xfrm>
              <a:blipFill>
                <a:blip r:embed="rId3"/>
                <a:stretch>
                  <a:fillRect b="-93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áfico 6" descr="Diana contorno">
            <a:extLst>
              <a:ext uri="{FF2B5EF4-FFF2-40B4-BE49-F238E27FC236}">
                <a16:creationId xmlns:a16="http://schemas.microsoft.com/office/drawing/2014/main" id="{86CA212D-73AA-B9A8-DA8B-223240F87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17900" y="393801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166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 </a:t>
            </a:r>
            <a:r>
              <a:rPr lang="en-GB" dirty="0" err="1"/>
              <a:t>importante</a:t>
            </a:r>
            <a:r>
              <a:rPr lang="en-GB" dirty="0"/>
              <a:t>: MSE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set de </a:t>
            </a:r>
            <a:r>
              <a:rPr lang="en-GB" b="1" dirty="0">
                <a:solidFill>
                  <a:schemeClr val="tx1"/>
                </a:solidFill>
                <a:highlight>
                  <a:schemeClr val="lt2"/>
                </a:highlight>
              </a:rPr>
              <a:t>testing</a:t>
            </a:r>
            <a:endParaRPr b="1" dirty="0">
              <a:solidFill>
                <a:schemeClr val="tx1"/>
              </a:solidFill>
              <a:highlight>
                <a:schemeClr val="lt2"/>
              </a:highlight>
            </a:endParaRPr>
          </a:p>
        </p:txBody>
      </p:sp>
      <p:pic>
        <p:nvPicPr>
          <p:cNvPr id="285" name="Google Shape;28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5272637" cy="3820977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49"/>
          <p:cNvSpPr txBox="1">
            <a:spLocks noGrp="1"/>
          </p:cNvSpPr>
          <p:nvPr>
            <p:ph type="body" idx="1"/>
          </p:nvPr>
        </p:nvSpPr>
        <p:spPr>
          <a:xfrm>
            <a:off x="5425037" y="1646313"/>
            <a:ext cx="3414300" cy="14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7500" lnSpcReduction="2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300" dirty="0" err="1"/>
              <a:t>Entendamos</a:t>
            </a:r>
            <a:r>
              <a:rPr lang="en-GB" sz="2300" dirty="0"/>
              <a:t> </a:t>
            </a:r>
            <a:r>
              <a:rPr lang="en-GB" sz="2300" dirty="0" err="1"/>
              <a:t>juntes</a:t>
            </a:r>
            <a:r>
              <a:rPr lang="en-GB" sz="2300" dirty="0"/>
              <a:t> </a:t>
            </a:r>
            <a:r>
              <a:rPr lang="en-GB" sz="2300" dirty="0" err="1"/>
              <a:t>este</a:t>
            </a:r>
            <a:r>
              <a:rPr lang="en-GB" sz="2300" dirty="0"/>
              <a:t> </a:t>
            </a:r>
            <a:r>
              <a:rPr lang="en-GB" sz="2300" dirty="0" err="1"/>
              <a:t>gráfico</a:t>
            </a:r>
            <a:r>
              <a:rPr lang="en-GB" sz="2300" dirty="0"/>
              <a:t> de MSE (mean squared error) </a:t>
            </a:r>
            <a:r>
              <a:rPr lang="en-GB" sz="2300" dirty="0" err="1"/>
              <a:t>en</a:t>
            </a:r>
            <a:r>
              <a:rPr lang="en-GB" sz="2300" dirty="0"/>
              <a:t> training y testing set.</a:t>
            </a:r>
            <a:endParaRPr sz="2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Matriz</a:t>
            </a:r>
            <a:r>
              <a:rPr lang="en-GB" dirty="0"/>
              <a:t> de </a:t>
            </a:r>
            <a:r>
              <a:rPr lang="en-GB" dirty="0" err="1"/>
              <a:t>confusión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554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8659167"/>
                  </p:ext>
                </p:extLst>
              </p:nvPr>
            </p:nvGraphicFramePr>
            <p:xfrm>
              <a:off x="-1213121" y="-295468"/>
              <a:ext cx="8902969" cy="5119070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053894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0729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23814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23814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23814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Sensitivity</a:t>
                          </a:r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/</a:t>
                          </a:r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Recall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23814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Specificity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23814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Precision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Negative Predictive </a:t>
                          </a:r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Value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Accuracy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  <a:p>
                          <a:pPr algn="ctr" fontAlgn="ctr"/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8659167"/>
                  </p:ext>
                </p:extLst>
              </p:nvPr>
            </p:nvGraphicFramePr>
            <p:xfrm>
              <a:off x="-1213121" y="-295468"/>
              <a:ext cx="8902969" cy="5119070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053894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0729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23814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23814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23814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198817" r="-685" b="-1994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23814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300595" r="-685" b="-1005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23814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200342" t="-400595" r="-201027" b="-5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299317" t="-400595" r="-100341" b="-5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400595" r="-685" b="-5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33297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IX. Flujo de trabajo</a:t>
            </a:r>
          </a:p>
        </p:txBody>
      </p:sp>
    </p:spTree>
    <p:extLst>
      <p:ext uri="{BB962C8B-B14F-4D97-AF65-F5344CB8AC3E}">
        <p14:creationId xmlns:p14="http://schemas.microsoft.com/office/powerpoint/2010/main" val="39334003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 err="1"/>
              <a:t>Flujo</a:t>
            </a:r>
            <a:r>
              <a:rPr lang="en-GB" sz="2500" dirty="0"/>
              <a:t> de </a:t>
            </a:r>
            <a:r>
              <a:rPr lang="en-GB" sz="2500" dirty="0" err="1"/>
              <a:t>trabajo</a:t>
            </a:r>
            <a:endParaRPr sz="2500" dirty="0"/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807746" y="1043309"/>
            <a:ext cx="4326384" cy="3655166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342900">
              <a:buFont typeface="+mj-lt"/>
              <a:buAutoNum type="arabicPeriod"/>
            </a:pPr>
            <a:r>
              <a:rPr lang="es-AR" b="1" dirty="0">
                <a:solidFill>
                  <a:schemeClr val="accent1"/>
                </a:solidFill>
              </a:rPr>
              <a:t>Limpiar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>
                <a:solidFill>
                  <a:schemeClr val="accent1"/>
                </a:solidFill>
              </a:rPr>
              <a:t>data </a:t>
            </a:r>
            <a:r>
              <a:rPr lang="es-AR" b="1" i="1" dirty="0" err="1">
                <a:solidFill>
                  <a:schemeClr val="accent1"/>
                </a:solidFill>
              </a:rPr>
              <a:t>cleaning</a:t>
            </a:r>
            <a:r>
              <a:rPr lang="es-AR" b="1" i="1" dirty="0">
                <a:solidFill>
                  <a:schemeClr val="accent1"/>
                </a:solidFill>
              </a:rPr>
              <a:t>/</a:t>
            </a:r>
            <a:r>
              <a:rPr lang="es-AR" b="1" i="1" dirty="0" err="1">
                <a:solidFill>
                  <a:schemeClr val="accent1"/>
                </a:solidFill>
              </a:rPr>
              <a:t>wrangling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2"/>
            </a:pPr>
            <a:r>
              <a:rPr lang="es-AR" b="1" dirty="0">
                <a:solidFill>
                  <a:schemeClr val="accent1"/>
                </a:solidFill>
              </a:rPr>
              <a:t>Explorar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exploratory</a:t>
            </a:r>
            <a:r>
              <a:rPr lang="es-AR" b="1" i="1" dirty="0">
                <a:solidFill>
                  <a:schemeClr val="accent1"/>
                </a:solidFill>
              </a:rPr>
              <a:t> data </a:t>
            </a:r>
            <a:r>
              <a:rPr lang="es-AR" b="1" i="1" dirty="0" err="1">
                <a:solidFill>
                  <a:schemeClr val="accent1"/>
                </a:solidFill>
              </a:rPr>
              <a:t>analysis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3"/>
            </a:pPr>
            <a:r>
              <a:rPr lang="es-AR" b="1" dirty="0">
                <a:solidFill>
                  <a:schemeClr val="accent1"/>
                </a:solidFill>
              </a:rPr>
              <a:t>Transformar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feature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engineering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4"/>
            </a:pPr>
            <a:r>
              <a:rPr lang="es-AR" b="1" dirty="0">
                <a:solidFill>
                  <a:schemeClr val="accent1"/>
                </a:solidFill>
              </a:rPr>
              <a:t>Elegir y pulir el modelo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model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tuning</a:t>
            </a:r>
            <a:r>
              <a:rPr lang="es-AR" b="1" i="1" dirty="0">
                <a:solidFill>
                  <a:schemeClr val="accent1"/>
                </a:solidFill>
              </a:rPr>
              <a:t> and </a:t>
            </a:r>
            <a:r>
              <a:rPr lang="es-AR" b="1" i="1" dirty="0" err="1">
                <a:solidFill>
                  <a:schemeClr val="accent1"/>
                </a:solidFill>
              </a:rPr>
              <a:t>selection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5"/>
            </a:pPr>
            <a:r>
              <a:rPr lang="es-AR" b="1" dirty="0">
                <a:solidFill>
                  <a:schemeClr val="accent1"/>
                </a:solidFill>
              </a:rPr>
              <a:t>Evaluar el modelo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model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evaluation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Gráfico 2" descr="Repetir contorno">
            <a:extLst>
              <a:ext uri="{FF2B5EF4-FFF2-40B4-BE49-F238E27FC236}">
                <a16:creationId xmlns:a16="http://schemas.microsoft.com/office/drawing/2014/main" id="{F46EE6AA-9CEB-F531-A44D-7CF1E9B0F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0785" y="1564696"/>
            <a:ext cx="2435469" cy="243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8420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84;p49">
            <a:extLst>
              <a:ext uri="{FF2B5EF4-FFF2-40B4-BE49-F238E27FC236}">
                <a16:creationId xmlns:a16="http://schemas.microsoft.com/office/drawing/2014/main" id="{A884BB71-61E1-499B-A687-7EF14286A4F2}"/>
              </a:ext>
            </a:extLst>
          </p:cNvPr>
          <p:cNvSpPr txBox="1">
            <a:spLocks/>
          </p:cNvSpPr>
          <p:nvPr/>
        </p:nvSpPr>
        <p:spPr>
          <a:xfrm>
            <a:off x="210477" y="347008"/>
            <a:ext cx="4436474" cy="3874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/>
          </a:p>
        </p:txBody>
      </p:sp>
      <p:graphicFrame>
        <p:nvGraphicFramePr>
          <p:cNvPr id="9" name="Tabla 9">
            <a:extLst>
              <a:ext uri="{FF2B5EF4-FFF2-40B4-BE49-F238E27FC236}">
                <a16:creationId xmlns:a16="http://schemas.microsoft.com/office/drawing/2014/main" id="{51C7C2CB-1605-4146-BC87-A76920B9D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40434"/>
              </p:ext>
            </p:extLst>
          </p:nvPr>
        </p:nvGraphicFramePr>
        <p:xfrm>
          <a:off x="1451547" y="839545"/>
          <a:ext cx="6240905" cy="4145280"/>
        </p:xfrm>
        <a:graphic>
          <a:graphicData uri="http://schemas.openxmlformats.org/drawingml/2006/table">
            <a:tbl>
              <a:tblPr firstRow="1" bandRow="1">
                <a:tableStyleId>{272BD5B9-A1A1-4B16-8F28-979374803D1B}</a:tableStyleId>
              </a:tblPr>
              <a:tblGrid>
                <a:gridCol w="4376936">
                  <a:extLst>
                    <a:ext uri="{9D8B030D-6E8A-4147-A177-3AD203B41FA5}">
                      <a16:colId xmlns:a16="http://schemas.microsoft.com/office/drawing/2014/main" val="2462341343"/>
                    </a:ext>
                  </a:extLst>
                </a:gridCol>
                <a:gridCol w="1863969">
                  <a:extLst>
                    <a:ext uri="{9D8B030D-6E8A-4147-A177-3AD203B41FA5}">
                      <a16:colId xmlns:a16="http://schemas.microsoft.com/office/drawing/2014/main" val="106219382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que importar los datos, unir las bases, convertir en numéricas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Limpieza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134773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Codifiquemos las variables cualitativas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Limpieza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50416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una correlación alta entre X_1 y X_2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210391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un valor de X_3 que es atípicamente alto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87245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¿Cómo se correlaciona Y con las X?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6790644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Habría que estandarizar las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386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Agreguemos los datos diarios en mensuales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546522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Apliquemos log a Y </a:t>
                      </a:r>
                      <a:r>
                        <a:rPr lang="es-MX" sz="1000" dirty="0" err="1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y</a:t>
                      </a: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27761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Tal vez apliquemos PCA a las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363609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Probemos una regresión lineal, KNN y un LDA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Estimación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35005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K elegimos para el KNN? Cuál parece óptimo según alguna métrica?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Pulir modelo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25270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¿Incluimos términos cuadráticos en la regresión?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Pulir modelo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763129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modelo tiene el menor MSE?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93742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valores de Y tienen residuos de predicción más altos? 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22124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Eliminemos X_2, que no está aportando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227859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Las predicciones mejoran si transformamos X_3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98654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LDA no da buenos resultados, lo dejamos de lado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8920773"/>
                  </a:ext>
                </a:extLst>
              </a:tr>
            </a:tbl>
          </a:graphicData>
        </a:graphic>
      </p:graphicFrame>
      <p:sp>
        <p:nvSpPr>
          <p:cNvPr id="13" name="Google Shape;181;p31">
            <a:extLst>
              <a:ext uri="{FF2B5EF4-FFF2-40B4-BE49-F238E27FC236}">
                <a16:creationId xmlns:a16="http://schemas.microsoft.com/office/drawing/2014/main" id="{00598B14-8CED-49BC-ACCA-8727E9B2F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Un </a:t>
            </a:r>
            <a:r>
              <a:rPr lang="en-GB" sz="2500" dirty="0" err="1"/>
              <a:t>flujo</a:t>
            </a:r>
            <a:r>
              <a:rPr lang="en-GB" sz="2500" dirty="0"/>
              <a:t> de </a:t>
            </a:r>
            <a:r>
              <a:rPr lang="en-GB" sz="2500" dirty="0" err="1"/>
              <a:t>trabajo</a:t>
            </a:r>
            <a:endParaRPr sz="2500" dirty="0"/>
          </a:p>
        </p:txBody>
      </p:sp>
    </p:spTree>
    <p:extLst>
      <p:ext uri="{BB962C8B-B14F-4D97-AF65-F5344CB8AC3E}">
        <p14:creationId xmlns:p14="http://schemas.microsoft.com/office/powerpoint/2010/main" val="41477712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X. </a:t>
            </a:r>
            <a:r>
              <a:rPr lang="en-GB" dirty="0" err="1"/>
              <a:t>tidymodels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3121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¿Por </a:t>
            </a:r>
            <a:r>
              <a:rPr lang="en-GB" sz="2500" dirty="0" err="1"/>
              <a:t>qué</a:t>
            </a:r>
            <a:r>
              <a:rPr lang="en-GB" sz="2500" dirty="0"/>
              <a:t> </a:t>
            </a:r>
            <a:r>
              <a:rPr lang="en-GB" sz="2500" b="1" dirty="0" err="1">
                <a:solidFill>
                  <a:schemeClr val="bg2"/>
                </a:solidFill>
              </a:rPr>
              <a:t>tidymodels</a:t>
            </a:r>
            <a:r>
              <a:rPr lang="en-GB" sz="2500" dirty="0"/>
              <a:t> y no R base?</a:t>
            </a:r>
            <a:endParaRPr sz="2500" dirty="0"/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Fácil de </a:t>
            </a:r>
            <a:r>
              <a:rPr lang="es-AR" sz="1600" b="1" dirty="0"/>
              <a:t>entender</a:t>
            </a:r>
            <a:r>
              <a:rPr lang="es-AR" sz="1600" dirty="0"/>
              <a:t>: condición necesaria para trabajar en equipo.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b="1" dirty="0"/>
              <a:t>Continuidad</a:t>
            </a:r>
            <a:r>
              <a:rPr lang="es-AR" sz="1600" dirty="0"/>
              <a:t> con la sintaxis </a:t>
            </a:r>
            <a:r>
              <a:rPr lang="es-AR" sz="1600" dirty="0" err="1"/>
              <a:t>tidyverse</a:t>
            </a:r>
            <a:r>
              <a:rPr lang="es-AR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Mantener </a:t>
            </a:r>
            <a:r>
              <a:rPr lang="es-AR" sz="1600" b="1" dirty="0"/>
              <a:t>estructuras de datos </a:t>
            </a:r>
            <a:r>
              <a:rPr lang="es-AR" sz="1600" dirty="0"/>
              <a:t>(</a:t>
            </a:r>
            <a:r>
              <a:rPr lang="es-AR" sz="1600" dirty="0" err="1"/>
              <a:t>dataframe</a:t>
            </a:r>
            <a:r>
              <a:rPr lang="es-AR" sz="1600" dirty="0"/>
              <a:t>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s-AR" sz="16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Fundamental: </a:t>
            </a:r>
            <a:r>
              <a:rPr lang="es-AR" sz="1600" b="1" dirty="0">
                <a:solidFill>
                  <a:schemeClr val="tx1"/>
                </a:solidFill>
                <a:highlight>
                  <a:schemeClr val="lt2"/>
                </a:highlight>
              </a:rPr>
              <a:t>pipes</a:t>
            </a:r>
            <a:r>
              <a:rPr lang="es-AR" sz="1600" dirty="0"/>
              <a:t> (%&gt;%) para encadenar secuencias complejas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AR" sz="16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b="1" dirty="0">
                <a:solidFill>
                  <a:schemeClr val="bg2"/>
                </a:solidFill>
              </a:rPr>
              <a:t>Ejemplo</a:t>
            </a:r>
            <a:r>
              <a:rPr lang="es-AR" sz="1600" dirty="0"/>
              <a:t>. Dos formas de escribir: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	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small_mtcars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&lt;- slice(arrange(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, gear), 1:10)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	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small_mtcars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&lt;- 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%&gt;%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	     arrange(gear) %&gt;%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	     slice(1:10)</a:t>
            </a:r>
            <a:endParaRPr lang="es-AR" sz="1600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3838215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Entonces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826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Nuestra </a:t>
            </a:r>
            <a:r>
              <a:rPr lang="en-GB" sz="2500" dirty="0" err="1"/>
              <a:t>hoja</a:t>
            </a:r>
            <a:r>
              <a:rPr lang="en-GB" sz="2500" dirty="0"/>
              <a:t> de </a:t>
            </a:r>
            <a:r>
              <a:rPr lang="en-GB" sz="2500" dirty="0" err="1"/>
              <a:t>ruta</a:t>
            </a:r>
            <a:endParaRPr sz="2500" dirty="0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D990B10-D7C9-44AC-9FD0-2E27B3A75CC4}"/>
              </a:ext>
            </a:extLst>
          </p:cNvPr>
          <p:cNvSpPr/>
          <p:nvPr/>
        </p:nvSpPr>
        <p:spPr>
          <a:xfrm>
            <a:off x="4309672" y="713242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Modelización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76890-EAB7-4F68-A4F0-5961C18E2333}"/>
              </a:ext>
            </a:extLst>
          </p:cNvPr>
          <p:cNvSpPr/>
          <p:nvPr/>
        </p:nvSpPr>
        <p:spPr>
          <a:xfrm>
            <a:off x="2480872" y="1400935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649CADF-86CA-4D53-8604-119C91D962C1}"/>
              </a:ext>
            </a:extLst>
          </p:cNvPr>
          <p:cNvSpPr/>
          <p:nvPr/>
        </p:nvSpPr>
        <p:spPr>
          <a:xfrm>
            <a:off x="6977913" y="1400935"/>
            <a:ext cx="18288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no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4C45660-C9E1-4682-8D24-67D65EDC5AD7}"/>
              </a:ext>
            </a:extLst>
          </p:cNvPr>
          <p:cNvSpPr/>
          <p:nvPr/>
        </p:nvSpPr>
        <p:spPr>
          <a:xfrm>
            <a:off x="367259" y="2033042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Regresión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1A5A473-C51D-457B-9320-56B40E145AED}"/>
              </a:ext>
            </a:extLst>
          </p:cNvPr>
          <p:cNvSpPr/>
          <p:nvPr/>
        </p:nvSpPr>
        <p:spPr>
          <a:xfrm>
            <a:off x="4736879" y="2032105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Clasificación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5" name="Hexágono 14">
            <a:extLst>
              <a:ext uri="{FF2B5EF4-FFF2-40B4-BE49-F238E27FC236}">
                <a16:creationId xmlns:a16="http://schemas.microsoft.com/office/drawing/2014/main" id="{F6141949-D737-4BE2-9122-26956F8C60B8}"/>
              </a:ext>
            </a:extLst>
          </p:cNvPr>
          <p:cNvSpPr/>
          <p:nvPr/>
        </p:nvSpPr>
        <p:spPr>
          <a:xfrm>
            <a:off x="2180183" y="3527498"/>
            <a:ext cx="1080000" cy="720000"/>
          </a:xfrm>
          <a:prstGeom prst="hexagon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lineal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8" name="Hexágono 17">
            <a:extLst>
              <a:ext uri="{FF2B5EF4-FFF2-40B4-BE49-F238E27FC236}">
                <a16:creationId xmlns:a16="http://schemas.microsoft.com/office/drawing/2014/main" id="{C9932A63-2CAB-4E2D-9825-0475BF88F7A0}"/>
              </a:ext>
            </a:extLst>
          </p:cNvPr>
          <p:cNvSpPr/>
          <p:nvPr/>
        </p:nvSpPr>
        <p:spPr>
          <a:xfrm>
            <a:off x="7457079" y="2114550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Clustering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B9A89CBC-6B47-41DB-9701-F40FC126C137}"/>
              </a:ext>
            </a:extLst>
          </p:cNvPr>
          <p:cNvSpPr/>
          <p:nvPr/>
        </p:nvSpPr>
        <p:spPr>
          <a:xfrm>
            <a:off x="3974879" y="2798833"/>
            <a:ext cx="15840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39E022CC-60EF-4D14-A8D8-A2272C00939F}"/>
              </a:ext>
            </a:extLst>
          </p:cNvPr>
          <p:cNvSpPr/>
          <p:nvPr/>
        </p:nvSpPr>
        <p:spPr>
          <a:xfrm>
            <a:off x="5963575" y="2796941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77E1FACB-771C-4678-8AEC-39BF517E1D99}"/>
              </a:ext>
            </a:extLst>
          </p:cNvPr>
          <p:cNvCxnSpPr>
            <a:cxnSpLocks/>
            <a:stCxn id="11" idx="2"/>
            <a:endCxn id="46" idx="0"/>
          </p:cNvCxnSpPr>
          <p:nvPr/>
        </p:nvCxnSpPr>
        <p:spPr>
          <a:xfrm flipH="1">
            <a:off x="934597" y="2490242"/>
            <a:ext cx="347062" cy="32809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0F40D13E-8445-47B1-A87F-A5950F6CF87E}"/>
              </a:ext>
            </a:extLst>
          </p:cNvPr>
          <p:cNvCxnSpPr>
            <a:cxnSpLocks/>
            <a:stCxn id="11" idx="2"/>
            <a:endCxn id="44" idx="0"/>
          </p:cNvCxnSpPr>
          <p:nvPr/>
        </p:nvCxnSpPr>
        <p:spPr>
          <a:xfrm>
            <a:off x="1281659" y="2490242"/>
            <a:ext cx="1430895" cy="33174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7CEEF7BB-59F9-4FD2-B3AB-532406514BF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flipH="1">
            <a:off x="1281659" y="1858135"/>
            <a:ext cx="2113613" cy="17490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E6DF477B-E1A1-420E-99FE-F4FEFB8B0159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3395272" y="1858135"/>
            <a:ext cx="2256007" cy="17397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8DED36CA-EBB0-4414-9220-3514866BE20E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3395272" y="1170442"/>
            <a:ext cx="1828800" cy="23049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36296CC0-4538-4702-BAE5-618BF6EC547F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224072" y="1170442"/>
            <a:ext cx="2668241" cy="230493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0A0F49A6-13A2-455D-BE09-F1DA863A84CA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flipH="1">
            <a:off x="4766879" y="2489305"/>
            <a:ext cx="884400" cy="30952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CE8EE3FF-AC20-4199-88E8-E4E59FB51FD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5651279" y="2489305"/>
            <a:ext cx="1104296" cy="307636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3E819977-5368-4D96-9F5B-91B50EC716FF}"/>
              </a:ext>
            </a:extLst>
          </p:cNvPr>
          <p:cNvCxnSpPr>
            <a:cxnSpLocks/>
          </p:cNvCxnSpPr>
          <p:nvPr/>
        </p:nvCxnSpPr>
        <p:spPr>
          <a:xfrm>
            <a:off x="7989748" y="1858135"/>
            <a:ext cx="0" cy="255478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Hexágono 31">
            <a:extLst>
              <a:ext uri="{FF2B5EF4-FFF2-40B4-BE49-F238E27FC236}">
                <a16:creationId xmlns:a16="http://schemas.microsoft.com/office/drawing/2014/main" id="{A78DF77B-EFC4-4CCD-B18D-08C8C8F8473D}"/>
              </a:ext>
            </a:extLst>
          </p:cNvPr>
          <p:cNvSpPr/>
          <p:nvPr/>
        </p:nvSpPr>
        <p:spPr>
          <a:xfrm>
            <a:off x="4239730" y="3527498"/>
            <a:ext cx="1080000" cy="720000"/>
          </a:xfrm>
          <a:prstGeom prst="hexagon">
            <a:avLst/>
          </a:prstGeom>
          <a:noFill/>
          <a:ln w="19050">
            <a:solidFill>
              <a:srgbClr val="63D2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logística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34" name="Hexágono 33">
            <a:extLst>
              <a:ext uri="{FF2B5EF4-FFF2-40B4-BE49-F238E27FC236}">
                <a16:creationId xmlns:a16="http://schemas.microsoft.com/office/drawing/2014/main" id="{2FD35B72-9731-44C8-9702-7B02D2407CF5}"/>
              </a:ext>
            </a:extLst>
          </p:cNvPr>
          <p:cNvSpPr/>
          <p:nvPr/>
        </p:nvSpPr>
        <p:spPr>
          <a:xfrm>
            <a:off x="6339144" y="3510556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KNN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B8981D67-8D8A-49B9-BD78-B0097DA717E4}"/>
              </a:ext>
            </a:extLst>
          </p:cNvPr>
          <p:cNvCxnSpPr>
            <a:cxnSpLocks/>
          </p:cNvCxnSpPr>
          <p:nvPr/>
        </p:nvCxnSpPr>
        <p:spPr>
          <a:xfrm flipH="1">
            <a:off x="4776208" y="3256033"/>
            <a:ext cx="0" cy="27052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8675A32A-54E3-49E2-B6EA-F57A43BAE636}"/>
              </a:ext>
            </a:extLst>
          </p:cNvPr>
          <p:cNvCxnSpPr>
            <a:cxnSpLocks/>
          </p:cNvCxnSpPr>
          <p:nvPr/>
        </p:nvCxnSpPr>
        <p:spPr>
          <a:xfrm flipH="1">
            <a:off x="6872872" y="3254141"/>
            <a:ext cx="0" cy="25641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0ABF2D76-8778-4E03-A65F-8B886B3D5DDC}"/>
              </a:ext>
            </a:extLst>
          </p:cNvPr>
          <p:cNvSpPr/>
          <p:nvPr/>
        </p:nvSpPr>
        <p:spPr>
          <a:xfrm>
            <a:off x="1920554" y="2821991"/>
            <a:ext cx="15840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DE43DF11-E945-4BA6-B83D-F1135911F0D5}"/>
              </a:ext>
            </a:extLst>
          </p:cNvPr>
          <p:cNvSpPr/>
          <p:nvPr/>
        </p:nvSpPr>
        <p:spPr>
          <a:xfrm>
            <a:off x="142597" y="2818332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07607E4-6E57-420C-953B-899797D0B314}"/>
              </a:ext>
            </a:extLst>
          </p:cNvPr>
          <p:cNvCxnSpPr>
            <a:cxnSpLocks/>
          </p:cNvCxnSpPr>
          <p:nvPr/>
        </p:nvCxnSpPr>
        <p:spPr>
          <a:xfrm>
            <a:off x="2712554" y="3279191"/>
            <a:ext cx="0" cy="24737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Hexágono 49">
            <a:extLst>
              <a:ext uri="{FF2B5EF4-FFF2-40B4-BE49-F238E27FC236}">
                <a16:creationId xmlns:a16="http://schemas.microsoft.com/office/drawing/2014/main" id="{135B1211-C838-4C20-BDDF-1C4257FDEB2A}"/>
              </a:ext>
            </a:extLst>
          </p:cNvPr>
          <p:cNvSpPr/>
          <p:nvPr/>
        </p:nvSpPr>
        <p:spPr>
          <a:xfrm>
            <a:off x="405051" y="3541867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Splines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EFE217A9-08AF-49BA-9AB4-D631A29A9D8D}"/>
              </a:ext>
            </a:extLst>
          </p:cNvPr>
          <p:cNvCxnSpPr>
            <a:cxnSpLocks/>
          </p:cNvCxnSpPr>
          <p:nvPr/>
        </p:nvCxnSpPr>
        <p:spPr>
          <a:xfrm>
            <a:off x="947106" y="3267612"/>
            <a:ext cx="0" cy="27425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C4F8BF29-2D4F-4DDB-9887-90F0F3D0A277}"/>
              </a:ext>
            </a:extLst>
          </p:cNvPr>
          <p:cNvSpPr/>
          <p:nvPr/>
        </p:nvSpPr>
        <p:spPr>
          <a:xfrm>
            <a:off x="2023672" y="3432749"/>
            <a:ext cx="3477717" cy="922560"/>
          </a:xfrm>
          <a:prstGeom prst="roundRect">
            <a:avLst/>
          </a:prstGeom>
          <a:noFill/>
          <a:ln>
            <a:solidFill>
              <a:schemeClr val="accent4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7" name="Hexágono 56">
            <a:extLst>
              <a:ext uri="{FF2B5EF4-FFF2-40B4-BE49-F238E27FC236}">
                <a16:creationId xmlns:a16="http://schemas.microsoft.com/office/drawing/2014/main" id="{075E4624-6159-4D88-B99C-4BAE0492B27D}"/>
              </a:ext>
            </a:extLst>
          </p:cNvPr>
          <p:cNvSpPr/>
          <p:nvPr/>
        </p:nvSpPr>
        <p:spPr>
          <a:xfrm>
            <a:off x="5512130" y="4268154"/>
            <a:ext cx="1080000" cy="720000"/>
          </a:xfrm>
          <a:prstGeom prst="hexagon">
            <a:avLst/>
          </a:prstGeom>
          <a:noFill/>
          <a:ln w="19050">
            <a:solidFill>
              <a:srgbClr val="63D2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LASSO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3" name="Conector: angular 52">
            <a:extLst>
              <a:ext uri="{FF2B5EF4-FFF2-40B4-BE49-F238E27FC236}">
                <a16:creationId xmlns:a16="http://schemas.microsoft.com/office/drawing/2014/main" id="{FF24B52B-AE9A-42DC-BAE2-53BE82F50593}"/>
              </a:ext>
            </a:extLst>
          </p:cNvPr>
          <p:cNvCxnSpPr>
            <a:stCxn id="57" idx="3"/>
            <a:endCxn id="49" idx="2"/>
          </p:cNvCxnSpPr>
          <p:nvPr/>
        </p:nvCxnSpPr>
        <p:spPr>
          <a:xfrm rot="10800000">
            <a:off x="3762532" y="4355310"/>
            <a:ext cx="1749599" cy="272845"/>
          </a:xfrm>
          <a:prstGeom prst="bentConnector2">
            <a:avLst/>
          </a:prstGeom>
          <a:ln w="190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4146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2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 semana que viene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>
            <a:spLocks noGrp="1"/>
          </p:cNvSpPr>
          <p:nvPr>
            <p:ph type="title"/>
          </p:nvPr>
        </p:nvSpPr>
        <p:spPr>
          <a:xfrm>
            <a:off x="311700" y="1528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 </a:t>
            </a:r>
            <a:r>
              <a:rPr lang="en-GB" dirty="0" err="1"/>
              <a:t>clase</a:t>
            </a:r>
            <a:r>
              <a:rPr lang="en-GB" dirty="0"/>
              <a:t> que </a:t>
            </a:r>
            <a:r>
              <a:rPr lang="en-GB" dirty="0" err="1"/>
              <a:t>viene</a:t>
            </a:r>
            <a:endParaRPr dirty="0"/>
          </a:p>
        </p:txBody>
      </p:sp>
      <p:sp>
        <p:nvSpPr>
          <p:cNvPr id="311" name="Google Shape;311;p53"/>
          <p:cNvSpPr txBox="1">
            <a:spLocks noGrp="1"/>
          </p:cNvSpPr>
          <p:nvPr>
            <p:ph type="body" idx="1"/>
          </p:nvPr>
        </p:nvSpPr>
        <p:spPr>
          <a:xfrm>
            <a:off x="311700" y="72219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b="1" dirty="0" err="1"/>
              <a:t>Teórico</a:t>
            </a:r>
            <a:r>
              <a:rPr lang="en-GB" dirty="0"/>
              <a:t>: </a:t>
            </a:r>
            <a:r>
              <a:rPr lang="es-AR" dirty="0"/>
              <a:t>Explorando y transformando variables. </a:t>
            </a:r>
            <a:r>
              <a:rPr lang="es-AR" dirty="0" err="1"/>
              <a:t>Intro</a:t>
            </a:r>
            <a:r>
              <a:rPr lang="es-AR" dirty="0"/>
              <a:t> a regresión lineal simple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b="1" dirty="0" err="1"/>
              <a:t>Práctico</a:t>
            </a:r>
            <a:r>
              <a:rPr lang="en-GB" dirty="0"/>
              <a:t>: resolver </a:t>
            </a:r>
            <a:r>
              <a:rPr lang="en-GB" dirty="0" err="1"/>
              <a:t>guía</a:t>
            </a:r>
            <a:r>
              <a:rPr lang="en-GB" dirty="0"/>
              <a:t> </a:t>
            </a:r>
            <a:r>
              <a:rPr lang="en-GB" dirty="0" err="1"/>
              <a:t>domiciliaria</a:t>
            </a:r>
            <a:r>
              <a:rPr lang="en-GB" dirty="0"/>
              <a:t>. Traer </a:t>
            </a:r>
            <a:r>
              <a:rPr lang="en-GB" dirty="0" err="1"/>
              <a:t>dudas</a:t>
            </a:r>
            <a:r>
              <a:rPr lang="en-GB" dirty="0"/>
              <a:t> y/o </a:t>
            </a:r>
            <a:r>
              <a:rPr lang="en-GB" dirty="0" err="1"/>
              <a:t>comentarios</a:t>
            </a:r>
            <a:r>
              <a:rPr lang="en-GB" dirty="0"/>
              <a:t>.</a:t>
            </a:r>
            <a:endParaRPr dirty="0"/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4871EC3-B70E-4261-AABB-E18DDD17F642}"/>
              </a:ext>
            </a:extLst>
          </p:cNvPr>
          <p:cNvGrpSpPr/>
          <p:nvPr/>
        </p:nvGrpSpPr>
        <p:grpSpPr>
          <a:xfrm>
            <a:off x="1069512" y="1825828"/>
            <a:ext cx="6988459" cy="2954374"/>
            <a:chOff x="1069512" y="1825828"/>
            <a:chExt cx="6988459" cy="2954374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BF09F2EB-B2C0-411C-8191-CAF51C2E839F}"/>
                </a:ext>
              </a:extLst>
            </p:cNvPr>
            <p:cNvGrpSpPr/>
            <p:nvPr/>
          </p:nvGrpSpPr>
          <p:grpSpPr>
            <a:xfrm>
              <a:off x="1069512" y="1825828"/>
              <a:ext cx="6988459" cy="2954374"/>
              <a:chOff x="367259" y="1400935"/>
              <a:chExt cx="6988459" cy="2954374"/>
            </a:xfrm>
          </p:grpSpPr>
          <p:sp>
            <p:nvSpPr>
              <p:cNvPr id="28" name="Rectángulo: esquinas redondeadas 27">
                <a:extLst>
                  <a:ext uri="{FF2B5EF4-FFF2-40B4-BE49-F238E27FC236}">
                    <a16:creationId xmlns:a16="http://schemas.microsoft.com/office/drawing/2014/main" id="{AE94CEF0-E576-42C9-9245-ACC60D2EED0D}"/>
                  </a:ext>
                </a:extLst>
              </p:cNvPr>
              <p:cNvSpPr/>
              <p:nvPr/>
            </p:nvSpPr>
            <p:spPr>
              <a:xfrm>
                <a:off x="2480872" y="1400935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Aprendizaje supervisado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29" name="Rectángulo: esquinas redondeadas 28">
                <a:extLst>
                  <a:ext uri="{FF2B5EF4-FFF2-40B4-BE49-F238E27FC236}">
                    <a16:creationId xmlns:a16="http://schemas.microsoft.com/office/drawing/2014/main" id="{D56FA9EE-AE19-4361-AAD5-08F0B039B6B3}"/>
                  </a:ext>
                </a:extLst>
              </p:cNvPr>
              <p:cNvSpPr/>
              <p:nvPr/>
            </p:nvSpPr>
            <p:spPr>
              <a:xfrm>
                <a:off x="367259" y="2033042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0" name="Rectángulo: esquinas redondeadas 29">
                <a:extLst>
                  <a:ext uri="{FF2B5EF4-FFF2-40B4-BE49-F238E27FC236}">
                    <a16:creationId xmlns:a16="http://schemas.microsoft.com/office/drawing/2014/main" id="{463574B9-32D3-4E95-9CAB-096B0F68E4B0}"/>
                  </a:ext>
                </a:extLst>
              </p:cNvPr>
              <p:cNvSpPr/>
              <p:nvPr/>
            </p:nvSpPr>
            <p:spPr>
              <a:xfrm>
                <a:off x="4736879" y="2032105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Clasificación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7" name="Hexágono 36">
                <a:extLst>
                  <a:ext uri="{FF2B5EF4-FFF2-40B4-BE49-F238E27FC236}">
                    <a16:creationId xmlns:a16="http://schemas.microsoft.com/office/drawing/2014/main" id="{7FB78308-2161-43AF-9288-51A89DC7C447}"/>
                  </a:ext>
                </a:extLst>
              </p:cNvPr>
              <p:cNvSpPr/>
              <p:nvPr/>
            </p:nvSpPr>
            <p:spPr>
              <a:xfrm>
                <a:off x="2180183" y="3527498"/>
                <a:ext cx="1080000" cy="720000"/>
              </a:xfrm>
              <a:prstGeom prst="hexagon">
                <a:avLst/>
              </a:pr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 lineal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8" name="Rectángulo: esquinas redondeadas 37">
                <a:extLst>
                  <a:ext uri="{FF2B5EF4-FFF2-40B4-BE49-F238E27FC236}">
                    <a16:creationId xmlns:a16="http://schemas.microsoft.com/office/drawing/2014/main" id="{B2E98092-AB69-45BB-9932-8B2EA27CA3AF}"/>
                  </a:ext>
                </a:extLst>
              </p:cNvPr>
              <p:cNvSpPr/>
              <p:nvPr/>
            </p:nvSpPr>
            <p:spPr>
              <a:xfrm>
                <a:off x="3974879" y="2798833"/>
                <a:ext cx="15840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Paramétricos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39" name="Conector recto 38">
                <a:extLst>
                  <a:ext uri="{FF2B5EF4-FFF2-40B4-BE49-F238E27FC236}">
                    <a16:creationId xmlns:a16="http://schemas.microsoft.com/office/drawing/2014/main" id="{9B87A578-FEF4-4189-B130-4418EEFBD16A}"/>
                  </a:ext>
                </a:extLst>
              </p:cNvPr>
              <p:cNvCxnSpPr>
                <a:cxnSpLocks/>
                <a:stCxn id="29" idx="2"/>
                <a:endCxn id="45" idx="0"/>
              </p:cNvCxnSpPr>
              <p:nvPr/>
            </p:nvCxnSpPr>
            <p:spPr>
              <a:xfrm>
                <a:off x="1281659" y="2490242"/>
                <a:ext cx="1430895" cy="331749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39">
                <a:extLst>
                  <a:ext uri="{FF2B5EF4-FFF2-40B4-BE49-F238E27FC236}">
                    <a16:creationId xmlns:a16="http://schemas.microsoft.com/office/drawing/2014/main" id="{09C67205-B270-4578-A818-415D776B8199}"/>
                  </a:ext>
                </a:extLst>
              </p:cNvPr>
              <p:cNvCxnSpPr>
                <a:cxnSpLocks/>
                <a:stCxn id="28" idx="2"/>
                <a:endCxn id="29" idx="0"/>
              </p:cNvCxnSpPr>
              <p:nvPr/>
            </p:nvCxnSpPr>
            <p:spPr>
              <a:xfrm flipH="1">
                <a:off x="1281659" y="1858135"/>
                <a:ext cx="2113613" cy="174907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cto 40">
                <a:extLst>
                  <a:ext uri="{FF2B5EF4-FFF2-40B4-BE49-F238E27FC236}">
                    <a16:creationId xmlns:a16="http://schemas.microsoft.com/office/drawing/2014/main" id="{CA342CC2-B661-4417-957A-B60A0C457FA3}"/>
                  </a:ext>
                </a:extLst>
              </p:cNvPr>
              <p:cNvCxnSpPr>
                <a:cxnSpLocks/>
                <a:stCxn id="28" idx="2"/>
                <a:endCxn id="30" idx="0"/>
              </p:cNvCxnSpPr>
              <p:nvPr/>
            </p:nvCxnSpPr>
            <p:spPr>
              <a:xfrm>
                <a:off x="3395272" y="1858135"/>
                <a:ext cx="2256007" cy="173970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>
                <a:extLst>
                  <a:ext uri="{FF2B5EF4-FFF2-40B4-BE49-F238E27FC236}">
                    <a16:creationId xmlns:a16="http://schemas.microsoft.com/office/drawing/2014/main" id="{3C46C32A-354F-413E-978D-26BE1853987C}"/>
                  </a:ext>
                </a:extLst>
              </p:cNvPr>
              <p:cNvCxnSpPr>
                <a:cxnSpLocks/>
                <a:stCxn id="30" idx="2"/>
                <a:endCxn id="38" idx="0"/>
              </p:cNvCxnSpPr>
              <p:nvPr/>
            </p:nvCxnSpPr>
            <p:spPr>
              <a:xfrm flipH="1">
                <a:off x="4766879" y="2489305"/>
                <a:ext cx="884400" cy="309528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Hexágono 42">
                <a:extLst>
                  <a:ext uri="{FF2B5EF4-FFF2-40B4-BE49-F238E27FC236}">
                    <a16:creationId xmlns:a16="http://schemas.microsoft.com/office/drawing/2014/main" id="{C30D0B83-F096-46D1-B873-CD6577D0A09B}"/>
                  </a:ext>
                </a:extLst>
              </p:cNvPr>
              <p:cNvSpPr/>
              <p:nvPr/>
            </p:nvSpPr>
            <p:spPr>
              <a:xfrm>
                <a:off x="4239730" y="3527498"/>
                <a:ext cx="1080000" cy="720000"/>
              </a:xfrm>
              <a:prstGeom prst="hexagon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 logística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44" name="Conector recto 43">
                <a:extLst>
                  <a:ext uri="{FF2B5EF4-FFF2-40B4-BE49-F238E27FC236}">
                    <a16:creationId xmlns:a16="http://schemas.microsoft.com/office/drawing/2014/main" id="{586B3817-61D6-431A-B97F-3B15146532F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76208" y="3256033"/>
                <a:ext cx="0" cy="270528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E7469C69-2447-4C7B-8020-C0FEA2DBB823}"/>
                  </a:ext>
                </a:extLst>
              </p:cNvPr>
              <p:cNvSpPr/>
              <p:nvPr/>
            </p:nvSpPr>
            <p:spPr>
              <a:xfrm>
                <a:off x="1920554" y="2821991"/>
                <a:ext cx="15840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Paramétricos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C714A34E-7EAC-4D5B-9BE1-39472498EC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2554" y="3279191"/>
                <a:ext cx="0" cy="247370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ángulo: esquinas redondeadas 46">
                <a:extLst>
                  <a:ext uri="{FF2B5EF4-FFF2-40B4-BE49-F238E27FC236}">
                    <a16:creationId xmlns:a16="http://schemas.microsoft.com/office/drawing/2014/main" id="{BE28245D-6B98-403C-9E45-7A88FDD9C13E}"/>
                  </a:ext>
                </a:extLst>
              </p:cNvPr>
              <p:cNvSpPr/>
              <p:nvPr/>
            </p:nvSpPr>
            <p:spPr>
              <a:xfrm>
                <a:off x="2023672" y="3432749"/>
                <a:ext cx="3477717" cy="922560"/>
              </a:xfrm>
              <a:prstGeom prst="roundRect">
                <a:avLst/>
              </a:prstGeom>
              <a:noFill/>
              <a:ln>
                <a:solidFill>
                  <a:schemeClr val="accent4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/>
              </a:p>
            </p:txBody>
          </p:sp>
          <p:sp>
            <p:nvSpPr>
              <p:cNvPr id="48" name="Hexágono 47">
                <a:extLst>
                  <a:ext uri="{FF2B5EF4-FFF2-40B4-BE49-F238E27FC236}">
                    <a16:creationId xmlns:a16="http://schemas.microsoft.com/office/drawing/2014/main" id="{3F7018EB-A727-4F53-9F7B-C52854642DF8}"/>
                  </a:ext>
                </a:extLst>
              </p:cNvPr>
              <p:cNvSpPr/>
              <p:nvPr/>
            </p:nvSpPr>
            <p:spPr>
              <a:xfrm>
                <a:off x="6275718" y="3526561"/>
                <a:ext cx="1080000" cy="720000"/>
              </a:xfrm>
              <a:prstGeom prst="hexagon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LASSO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1DC0A598-07CA-4E99-81E7-8D5C314B132E}"/>
                </a:ext>
              </a:extLst>
            </p:cNvPr>
            <p:cNvCxnSpPr>
              <a:stCxn id="48" idx="3"/>
              <a:endCxn id="47" idx="3"/>
            </p:cNvCxnSpPr>
            <p:nvPr/>
          </p:nvCxnSpPr>
          <p:spPr>
            <a:xfrm flipH="1">
              <a:off x="6203642" y="4311454"/>
              <a:ext cx="774329" cy="7468"/>
            </a:xfrm>
            <a:prstGeom prst="straightConnector1">
              <a:avLst/>
            </a:prstGeom>
            <a:ln w="1270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Gracias!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657643"/>
      </p:ext>
    </p:extLst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</TotalTime>
  <Words>1770</Words>
  <Application>Microsoft Office PowerPoint</Application>
  <PresentationFormat>Presentación en pantalla (16:9)</PresentationFormat>
  <Paragraphs>289</Paragraphs>
  <Slides>53</Slides>
  <Notes>53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53</vt:i4>
      </vt:variant>
    </vt:vector>
  </HeadingPairs>
  <TitlesOfParts>
    <vt:vector size="59" baseType="lpstr">
      <vt:lpstr>MS Mincho</vt:lpstr>
      <vt:lpstr>Wingdings</vt:lpstr>
      <vt:lpstr>Cambria Math</vt:lpstr>
      <vt:lpstr>Arial</vt:lpstr>
      <vt:lpstr>Proxima Nova</vt:lpstr>
      <vt:lpstr>Spearmint</vt:lpstr>
      <vt:lpstr>Módulo 3: Introducción al modelado de datos</vt:lpstr>
      <vt:lpstr>Quiénes somos</vt:lpstr>
      <vt:lpstr>Quiénes somos</vt:lpstr>
      <vt:lpstr>Qué esperar de teóricos y qué esperar de prácticos</vt:lpstr>
      <vt:lpstr>Bibliografía del módulo</vt:lpstr>
      <vt:lpstr>Contenidos por clase</vt:lpstr>
      <vt:lpstr>Teórica 1: intro, tipos de modelos, trade-offs</vt:lpstr>
      <vt:lpstr>Agenda</vt:lpstr>
      <vt:lpstr>I. Introducción a la modelización</vt:lpstr>
      <vt:lpstr>Modelizar es construir una función f que relacione variable(s) independiente(s) con variable dependiente</vt:lpstr>
      <vt:lpstr>¿Para qué modelizar?</vt:lpstr>
      <vt:lpstr>II. Problemas de predicción y problemas de inferencia</vt:lpstr>
      <vt:lpstr>Dos tipos de razones diferentes para modelizar</vt:lpstr>
      <vt:lpstr>Predicción</vt:lpstr>
      <vt:lpstr>Inferencia</vt:lpstr>
      <vt:lpstr>¿Cuándo usamos cada tipo de modelo?  Discusión:  ¿qué pasa si nuestro modelo de inferencia no predice bien?  +problemas para predecir por fuera del intervalo de entrenamiento  (e.g.: predecir el futuro con datos del pasado)</vt:lpstr>
      <vt:lpstr>Presentación de PowerPoint</vt:lpstr>
      <vt:lpstr>¿Conocemos el output a priori?</vt:lpstr>
      <vt:lpstr>III. Métodos de aprendizaje supervisado y métodos de aprendizaje no supervisado</vt:lpstr>
      <vt:lpstr>En módulo 3 veremos aprendizaje supervisado</vt:lpstr>
      <vt:lpstr>¿Qué modelizar?</vt:lpstr>
      <vt:lpstr>IV. Problemas de regresión y problemas de clasificación</vt:lpstr>
      <vt:lpstr>Predecir un valor o clasificar en una categoría</vt:lpstr>
      <vt:lpstr>Cómo modelizar?</vt:lpstr>
      <vt:lpstr>V. Métodos paramétricos y métodos no paramétricos</vt:lpstr>
      <vt:lpstr>Asumir la forma de f o no asumirla</vt:lpstr>
      <vt:lpstr>Modelos paramétricos</vt:lpstr>
      <vt:lpstr>Modelos no paramétricos</vt:lpstr>
      <vt:lpstr>Nos interesa más el cuánto o el cómo?</vt:lpstr>
      <vt:lpstr>VI.Trade-off precisión-interpretabilidad</vt:lpstr>
      <vt:lpstr>Precisión a cualquier costo no es siempre lo mejor</vt:lpstr>
      <vt:lpstr>VII.Trade-off sesgo-varianza</vt:lpstr>
      <vt:lpstr>Buscar el mejor equilibrio para cada modelo</vt:lpstr>
      <vt:lpstr>¿Cuán bueno es el modelo?</vt:lpstr>
      <vt:lpstr>VIII. Calidad del fit: Train-Test split y métricas básicas</vt:lpstr>
      <vt:lpstr>  </vt:lpstr>
      <vt:lpstr>Train y test</vt:lpstr>
      <vt:lpstr>  </vt:lpstr>
      <vt:lpstr>Mean Squeared Error</vt:lpstr>
      <vt:lpstr>Mean Squared Error (MSE)</vt:lpstr>
      <vt:lpstr>Lo importante: MSE en el set de testing</vt:lpstr>
      <vt:lpstr>Matriz de confusión</vt:lpstr>
      <vt:lpstr>Presentación de PowerPoint</vt:lpstr>
      <vt:lpstr>IX. Flujo de trabajo</vt:lpstr>
      <vt:lpstr>Flujo de trabajo</vt:lpstr>
      <vt:lpstr>Un flujo de trabajo</vt:lpstr>
      <vt:lpstr>X. tidymodels</vt:lpstr>
      <vt:lpstr>¿Por qué tidymodels y no R base?</vt:lpstr>
      <vt:lpstr>Entonces</vt:lpstr>
      <vt:lpstr>Nuestra hoja de ruta</vt:lpstr>
      <vt:lpstr>La semana que viene</vt:lpstr>
      <vt:lpstr>La clase que viene</vt:lpstr>
      <vt:lpstr>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3: Introducción al modelado de datos</dc:title>
  <dc:creator>Carolina Pradier</dc:creator>
  <cp:lastModifiedBy>WEKSLER GUIDO EZEQUIEL</cp:lastModifiedBy>
  <cp:revision>66</cp:revision>
  <dcterms:modified xsi:type="dcterms:W3CDTF">2025-04-10T12:49:21Z</dcterms:modified>
</cp:coreProperties>
</file>