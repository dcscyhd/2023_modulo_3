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embeddedFontLst>
    <p:embeddedFont>
      <p:font typeface="Proxima Nova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7" roundtripDataSignature="AMtx7mg+Fxgw6DzAa2x3ZYH50jpj0iIM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117918-3ED6-4DFD-B943-64CD1A0B9873}">
  <a:tblStyle styleId="{4F117918-3ED6-4DFD-B943-64CD1A0B987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ProximaNova-bold.fntdata"/><Relationship Id="rId63" Type="http://schemas.openxmlformats.org/officeDocument/2006/relationships/font" Target="fonts/ProximaNova-regular.fntdata"/><Relationship Id="rId22" Type="http://schemas.openxmlformats.org/officeDocument/2006/relationships/slide" Target="slides/slide16.xml"/><Relationship Id="rId66" Type="http://schemas.openxmlformats.org/officeDocument/2006/relationships/font" Target="fonts/ProximaNova-boldItalic.fntdata"/><Relationship Id="rId21" Type="http://schemas.openxmlformats.org/officeDocument/2006/relationships/slide" Target="slides/slide15.xml"/><Relationship Id="rId65" Type="http://schemas.openxmlformats.org/officeDocument/2006/relationships/font" Target="fonts/ProximaNova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customschemas.google.com/relationships/presentationmetadata" Target="meta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5d5ea32f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65d5ea32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65d5ea32f_1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f65d5ea32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65d5ea32f_1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f65d5ea32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5d5ea32f_1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f65d5ea32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En todos los casos mostramos ejemplos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5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55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55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57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5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6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2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6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62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62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6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3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4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64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milhvitfeldt.github.io/ISLR-tidymodels-labs/" TargetMode="External"/><Relationship Id="rId4" Type="http://schemas.openxmlformats.org/officeDocument/2006/relationships/hyperlink" Target="https://emilhvitfeldt.github.io/ISLR-tidymodels-labs/" TargetMode="External"/><Relationship Id="rId10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hyperlink" Target="https://emilhvitfeldt.github.io/ISLR-tidymodels-labs/" TargetMode="External"/><Relationship Id="rId6" Type="http://schemas.openxmlformats.org/officeDocument/2006/relationships/hyperlink" Target="https://www.tmwr.org/" TargetMode="External"/><Relationship Id="rId7" Type="http://schemas.openxmlformats.org/officeDocument/2006/relationships/hyperlink" Target="https://openintro-ims.netlify.app/" TargetMode="External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Relationship Id="rId4" Type="http://schemas.openxmlformats.org/officeDocument/2006/relationships/image" Target="../media/image20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Módulo 3: Introducción al modelado de datos</a:t>
            </a:r>
            <a:endParaRPr/>
          </a:p>
        </p:txBody>
      </p:sp>
      <p:sp>
        <p:nvSpPr>
          <p:cNvPr id="60" name="Google Shape;60;p1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-GB"/>
              <a:t>Diplomatura en Ciencias Sociales Computacionales y Humanidades Digitales (IDAES-UNSAM)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Quiénes somos</a:t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311699" y="1152475"/>
            <a:ext cx="4068000" cy="3416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>
                <a:solidFill>
                  <a:schemeClr val="dk2"/>
                </a:solidFill>
              </a:rPr>
              <a:t>Santiago Bezchinsky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/>
              <a:t>Lic. Sociología UBA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/>
              <a:t>Mg. Data Science UBA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GB"/>
              <a:t>Data Scientist en Errepar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4771800" y="1152475"/>
            <a:ext cx="4068000" cy="3416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b="1" i="0" lang="en-GB" sz="2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Nayla Sol Garcilazo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t/>
            </a:r>
            <a:endParaRPr b="0" i="0" sz="2400" u="none" cap="none" strike="noStrike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</a:pP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Lic. Sociología UBA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</a:pP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Diploma en Análisis de Datos y Pol. Públicas UBA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</a:pP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Asistente de investigación Factor</a:t>
            </a:r>
            <a:r>
              <a:rPr b="0" i="0" lang="en-GB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~</a:t>
            </a: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Data</a:t>
            </a:r>
            <a:endParaRPr b="0" i="0" sz="1800" u="none" cap="none" strike="noStrike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Qué esperar de teóricos y qué esperar de prácticos</a:t>
            </a:r>
            <a:endParaRPr/>
          </a:p>
        </p:txBody>
      </p:sp>
      <p:sp>
        <p:nvSpPr>
          <p:cNvPr id="73" name="Google Shape;73;p4"/>
          <p:cNvSpPr txBox="1"/>
          <p:nvPr>
            <p:ph idx="1" type="body"/>
          </p:nvPr>
        </p:nvSpPr>
        <p:spPr>
          <a:xfrm>
            <a:off x="311700" y="1152475"/>
            <a:ext cx="4060500" cy="341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>
                <a:solidFill>
                  <a:schemeClr val="lt1"/>
                </a:solidFill>
              </a:rPr>
              <a:t>Teóricos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 sz="2000">
                <a:solidFill>
                  <a:schemeClr val="lt1"/>
                </a:solidFill>
              </a:rPr>
              <a:t>Exposiciones de 60 minutos con slides sobre los conceptos teóricos estadísticos y de modelización.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4771795" y="1152475"/>
            <a:ext cx="4060500" cy="3416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Prácticos</a:t>
            </a:r>
            <a:endParaRPr b="1" sz="2400"/>
          </a:p>
          <a:p>
            <a:pPr indent="-187325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2000"/>
              <a:t>Guiadas en clase, 60 minutos para trabajar.</a:t>
            </a:r>
            <a:endParaRPr sz="2000"/>
          </a:p>
          <a:p>
            <a:pPr indent="-187325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2000"/>
              <a:t>Independientes para trabajar entre clase y clase.</a:t>
            </a:r>
            <a:endParaRPr sz="2000"/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2000"/>
              <a:t>Ambas en R Studio.</a:t>
            </a:r>
            <a:endParaRPr sz="2000"/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Bibliografía del módulo</a:t>
            </a:r>
            <a:endParaRPr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417199" y="1162501"/>
            <a:ext cx="4154801" cy="3259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400"/>
              <a:t>An Introduction to Statistical Learning with applications in R (James, Witten, Hastie y Tibshirani) – 1</a:t>
            </a:r>
            <a:r>
              <a:rPr baseline="30000" lang="en-GB" sz="1400"/>
              <a:t>st</a:t>
            </a:r>
            <a:r>
              <a:rPr lang="en-GB" sz="1400"/>
              <a:t> and </a:t>
            </a:r>
            <a:r>
              <a:rPr lang="en-GB" sz="1400" u="sng">
                <a:solidFill>
                  <a:schemeClr val="hlink"/>
                </a:solidFill>
                <a:hlinkClick r:id="rId3"/>
              </a:rPr>
              <a:t>2</a:t>
            </a:r>
            <a:r>
              <a:rPr baseline="30000" lang="en-GB" sz="1400" u="sng">
                <a:solidFill>
                  <a:schemeClr val="hlink"/>
                </a:solidFill>
                <a:hlinkClick r:id="rId4"/>
              </a:rPr>
              <a:t>nd</a:t>
            </a:r>
            <a:r>
              <a:rPr lang="en-GB" sz="1400" u="sng">
                <a:solidFill>
                  <a:schemeClr val="hlink"/>
                </a:solidFill>
                <a:hlinkClick r:id="rId5"/>
              </a:rPr>
              <a:t> version </a:t>
            </a:r>
            <a:endParaRPr sz="1400"/>
          </a:p>
          <a:p>
            <a:pPr indent="-1714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400"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400" u="sng">
                <a:solidFill>
                  <a:schemeClr val="hlink"/>
                </a:solidFill>
                <a:hlinkClick r:id="rId6"/>
              </a:rPr>
              <a:t>Tidy Modeling with R (Kuhn y Silge)</a:t>
            </a:r>
            <a:r>
              <a:rPr lang="en-GB" sz="1400"/>
              <a:t> </a:t>
            </a:r>
            <a:endParaRPr/>
          </a:p>
          <a:p>
            <a:pPr indent="-1714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400"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400" u="sng">
                <a:solidFill>
                  <a:schemeClr val="hlink"/>
                </a:solidFill>
                <a:hlinkClick r:id="rId7"/>
              </a:rPr>
              <a:t>Introduction</a:t>
            </a:r>
            <a:r>
              <a:rPr lang="en-GB" sz="1400"/>
              <a:t> to Modern Statistics (Çetinkaya-Rundel y Hardin) </a:t>
            </a:r>
            <a:endParaRPr/>
          </a:p>
        </p:txBody>
      </p:sp>
      <p:cxnSp>
        <p:nvCxnSpPr>
          <p:cNvPr id="81" name="Google Shape;81;p5"/>
          <p:cNvCxnSpPr/>
          <p:nvPr/>
        </p:nvCxnSpPr>
        <p:spPr>
          <a:xfrm flipH="1" rot="10800000">
            <a:off x="378069" y="940777"/>
            <a:ext cx="6849208" cy="2637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2" name="Google Shape;8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15898" y="1462908"/>
            <a:ext cx="2244480" cy="291746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" name="Google Shape;8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82499">
            <a:off x="7128582" y="618711"/>
            <a:ext cx="1831357" cy="233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-817508">
            <a:off x="7002312" y="2462353"/>
            <a:ext cx="1695264" cy="2256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Contenidos por clase</a:t>
            </a:r>
            <a:endParaRPr/>
          </a:p>
        </p:txBody>
      </p:sp>
      <p:graphicFrame>
        <p:nvGraphicFramePr>
          <p:cNvPr id="90" name="Google Shape;90;p6"/>
          <p:cNvGraphicFramePr/>
          <p:nvPr/>
        </p:nvGraphicFramePr>
        <p:xfrm>
          <a:off x="31175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{4F117918-3ED6-4DFD-B943-64CD1A0B9873}</a:tableStyleId>
              </a:tblPr>
              <a:tblGrid>
                <a:gridCol w="1093975"/>
                <a:gridCol w="3915875"/>
                <a:gridCol w="3575075"/>
              </a:tblGrid>
              <a:tr h="51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Clase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Temas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Bibliografía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Intro, tipos de modelos, trade-offs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2 ISLR + Cap 1 TMR + Caps 4 y 5 IMS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14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Explorando y transformando variables.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Intro a regresión lineal simple</a:t>
                      </a:r>
                      <a:endParaRPr sz="14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3.1 ISLR + Cap 6 TMR + Cap 7 IMS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endParaRPr sz="14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Regresión lineal múltiple</a:t>
                      </a:r>
                      <a:endParaRPr sz="14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3.2 a 3.6 ISLR + Caps 7 y 8 TMR + Cap 8 IMS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</a:t>
                      </a:r>
                      <a:endParaRPr sz="14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Regresión logística</a:t>
                      </a:r>
                      <a:endParaRPr sz="14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4.1 a 4.3 ISLR + Cap 9 IMS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4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LASSO</a:t>
                      </a:r>
                      <a:endParaRPr sz="14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6.1 a 6.2 ISLR</a:t>
                      </a:r>
                      <a:endParaRPr sz="12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6</a:t>
                      </a:r>
                      <a:endParaRPr sz="14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Métricas de rendimiento y CrossValidation</a:t>
                      </a:r>
                      <a:endParaRPr sz="14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5 ISLR + Caps 5, 9 y 10 TMR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Teórica 1: intro, tipos de modelos, trade-offs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101" name="Google Shape;101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7647"/>
              <a:buAutoNum type="romanUcPeriod"/>
            </a:pPr>
            <a:r>
              <a:rPr lang="en-GB">
                <a:highlight>
                  <a:schemeClr val="lt2"/>
                </a:highlight>
              </a:rPr>
              <a:t>Introducción</a:t>
            </a:r>
            <a:r>
              <a:rPr lang="en-GB"/>
              <a:t> a la modelización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7647"/>
              <a:buAutoNum type="romanUcPeriod"/>
            </a:pPr>
            <a:r>
              <a:rPr lang="en-GB"/>
              <a:t>Problemas de </a:t>
            </a:r>
            <a:r>
              <a:rPr lang="en-GB">
                <a:highlight>
                  <a:schemeClr val="lt2"/>
                </a:highlight>
              </a:rPr>
              <a:t>predicción</a:t>
            </a:r>
            <a:r>
              <a:rPr lang="en-GB"/>
              <a:t> y problemas de </a:t>
            </a:r>
            <a:r>
              <a:rPr lang="en-GB">
                <a:highlight>
                  <a:schemeClr val="lt2"/>
                </a:highlight>
              </a:rPr>
              <a:t>inferencia</a:t>
            </a:r>
            <a:endParaRPr>
              <a:highlight>
                <a:schemeClr val="lt2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7647"/>
              <a:buFont typeface="Proxima Nova"/>
              <a:buAutoNum type="romanUcPeriod"/>
            </a:pPr>
            <a:r>
              <a:rPr lang="en-GB"/>
              <a:t>Métodos de aprendizaje </a:t>
            </a:r>
            <a:r>
              <a:rPr lang="en-GB">
                <a:highlight>
                  <a:schemeClr val="lt2"/>
                </a:highlight>
              </a:rPr>
              <a:t>supervisado</a:t>
            </a:r>
            <a:r>
              <a:rPr lang="en-GB"/>
              <a:t> y métodos de aprendizaje </a:t>
            </a:r>
            <a:r>
              <a:rPr lang="en-GB">
                <a:highlight>
                  <a:schemeClr val="lt2"/>
                </a:highlight>
              </a:rPr>
              <a:t>no supervisado</a:t>
            </a:r>
            <a:endParaRPr>
              <a:highlight>
                <a:schemeClr val="lt2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7647"/>
              <a:buAutoNum type="romanUcPeriod"/>
            </a:pPr>
            <a:r>
              <a:rPr lang="en-GB"/>
              <a:t>Problemas de </a:t>
            </a:r>
            <a:r>
              <a:rPr lang="en-GB">
                <a:highlight>
                  <a:schemeClr val="lt2"/>
                </a:highlight>
              </a:rPr>
              <a:t>regresión</a:t>
            </a:r>
            <a:r>
              <a:rPr lang="en-GB"/>
              <a:t> y problemas de </a:t>
            </a:r>
            <a:r>
              <a:rPr lang="en-GB">
                <a:highlight>
                  <a:schemeClr val="lt2"/>
                </a:highlight>
              </a:rPr>
              <a:t>clasificación</a:t>
            </a:r>
            <a:endParaRPr>
              <a:highlight>
                <a:schemeClr val="lt2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7647"/>
              <a:buAutoNum type="romanUcPeriod"/>
            </a:pPr>
            <a:r>
              <a:rPr lang="en-GB"/>
              <a:t>Métodos </a:t>
            </a:r>
            <a:r>
              <a:rPr lang="en-GB">
                <a:highlight>
                  <a:schemeClr val="lt2"/>
                </a:highlight>
              </a:rPr>
              <a:t>paramétricos</a:t>
            </a:r>
            <a:r>
              <a:rPr lang="en-GB"/>
              <a:t> y métodos </a:t>
            </a:r>
            <a:r>
              <a:rPr lang="en-GB">
                <a:highlight>
                  <a:schemeClr val="lt2"/>
                </a:highlight>
              </a:rPr>
              <a:t>no paramétricos</a:t>
            </a:r>
            <a:endParaRPr>
              <a:highlight>
                <a:schemeClr val="lt2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7647"/>
              <a:buAutoNum type="romanUcPeriod"/>
            </a:pPr>
            <a:r>
              <a:rPr lang="en-GB"/>
              <a:t>Trade-off </a:t>
            </a:r>
            <a:r>
              <a:rPr lang="en-GB">
                <a:highlight>
                  <a:schemeClr val="lt2"/>
                </a:highlight>
              </a:rPr>
              <a:t>precisión-interpretabilidad</a:t>
            </a:r>
            <a:endParaRPr>
              <a:highlight>
                <a:schemeClr val="lt2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7647"/>
              <a:buAutoNum type="romanUcPeriod"/>
            </a:pPr>
            <a:r>
              <a:rPr lang="en-GB"/>
              <a:t>Trade-off </a:t>
            </a:r>
            <a:r>
              <a:rPr lang="en-GB">
                <a:highlight>
                  <a:schemeClr val="lt2"/>
                </a:highlight>
              </a:rPr>
              <a:t>sesgo-varianza</a:t>
            </a:r>
            <a:endParaRPr>
              <a:highlight>
                <a:schemeClr val="lt2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7647"/>
              <a:buAutoNum type="romanUcPeriod"/>
            </a:pPr>
            <a:r>
              <a:rPr lang="en-GB"/>
              <a:t>Medidas de la calidad del fit: set de </a:t>
            </a:r>
            <a:r>
              <a:rPr lang="en-GB">
                <a:highlight>
                  <a:schemeClr val="lt2"/>
                </a:highlight>
              </a:rPr>
              <a:t>training</a:t>
            </a:r>
            <a:r>
              <a:rPr lang="en-GB"/>
              <a:t> y set de </a:t>
            </a:r>
            <a:r>
              <a:rPr lang="en-GB">
                <a:highlight>
                  <a:schemeClr val="lt2"/>
                </a:highlight>
              </a:rPr>
              <a:t>testing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7647"/>
              <a:buAutoNum type="romanUcPeriod"/>
            </a:pPr>
            <a:r>
              <a:rPr lang="en-GB">
                <a:highlight>
                  <a:schemeClr val="lt2"/>
                </a:highlight>
              </a:rPr>
              <a:t>Flujo </a:t>
            </a:r>
            <a:r>
              <a:rPr lang="en-GB"/>
              <a:t>de trabajo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7647"/>
              <a:buAutoNum type="romanUcPeriod"/>
            </a:pPr>
            <a:r>
              <a:rPr lang="en-GB">
                <a:highlight>
                  <a:schemeClr val="lt2"/>
                </a:highlight>
              </a:rPr>
              <a:t>tidymodels</a:t>
            </a:r>
            <a:endParaRPr>
              <a:highlight>
                <a:schemeClr val="lt2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I. Introducción a la modelización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5d5ea32f_1_0"/>
          <p:cNvSpPr txBox="1"/>
          <p:nvPr>
            <p:ph type="title"/>
          </p:nvPr>
        </p:nvSpPr>
        <p:spPr>
          <a:xfrm>
            <a:off x="490250" y="526350"/>
            <a:ext cx="603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¿Qué es modelizar (o modelar)?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5d5ea32f_1_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chemeClr val="dk2"/>
                </a:solidFill>
              </a:rPr>
              <a:t>Proceso Generador de los Datos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descr="Formas básicas con relleno sólido" id="117" name="Google Shape;117;g3f65d5ea32f_1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624" y="3601722"/>
            <a:ext cx="1283676" cy="128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f65d5ea32f_1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575" y="1353000"/>
            <a:ext cx="2316477" cy="216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f65d5ea32f_1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3762" y="1353000"/>
            <a:ext cx="2316477" cy="227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f65d5ea32f_1_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0050" y="1307925"/>
            <a:ext cx="2316477" cy="236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5d5ea32f_1_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chemeClr val="dk2"/>
                </a:solidFill>
              </a:rPr>
              <a:t>Proceso Generador de los Datos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26" name="Google Shape;126;g3f65d5ea32f_1_24"/>
          <p:cNvSpPr txBox="1"/>
          <p:nvPr>
            <p:ph idx="1" type="body"/>
          </p:nvPr>
        </p:nvSpPr>
        <p:spPr>
          <a:xfrm>
            <a:off x="311699" y="1152475"/>
            <a:ext cx="8045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2000"/>
              <a:t>Asumimos que existe un </a:t>
            </a:r>
            <a:r>
              <a:rPr b="1" lang="en-GB" sz="2000"/>
              <a:t>fenómeno </a:t>
            </a:r>
            <a:r>
              <a:rPr lang="en-GB" sz="2000"/>
              <a:t>de la realidad, un proceso que genera información y no podemos conocer de forma directa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GB" sz="2000"/>
              <a:t>Solo podemos acceder a él mediante </a:t>
            </a:r>
            <a:r>
              <a:rPr b="1" lang="en-GB" sz="2000"/>
              <a:t>observaciones o mediciones puntuales</a:t>
            </a:r>
            <a:r>
              <a:rPr lang="en-GB" sz="2000"/>
              <a:t> y finitas. Nunca vamos a conocer esa realidad por completo.</a:t>
            </a:r>
            <a:endParaRPr sz="2000"/>
          </a:p>
          <a:p>
            <a:pPr indent="-298450" lvl="0" marL="2857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en-GB" sz="2000"/>
              <a:t>Partiendo de los datos elaboramos una </a:t>
            </a:r>
            <a:r>
              <a:rPr i="1" lang="en-GB" sz="2000"/>
              <a:t>representación simplificada</a:t>
            </a:r>
            <a:r>
              <a:rPr lang="en-GB" sz="2000"/>
              <a:t> que nos permita acercarnos a ese fenómeno, el </a:t>
            </a:r>
            <a:r>
              <a:rPr b="1" lang="en-GB" sz="2000"/>
              <a:t>modelo</a:t>
            </a:r>
            <a:r>
              <a:rPr lang="en-GB" sz="2000"/>
              <a:t>.</a:t>
            </a:r>
            <a:endParaRPr sz="2000"/>
          </a:p>
          <a:p>
            <a:pPr indent="-171450" lvl="0" marL="2857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b="1" sz="2000"/>
          </a:p>
        </p:txBody>
      </p:sp>
      <p:pic>
        <p:nvPicPr>
          <p:cNvPr descr="Formas básicas con relleno sólido" id="127" name="Google Shape;127;g3f65d5ea32f_1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624" y="3601722"/>
            <a:ext cx="1283676" cy="128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Modelizar es construir una función </a:t>
            </a:r>
            <a:r>
              <a:rPr i="1" lang="en-GB"/>
              <a:t>f</a:t>
            </a:r>
            <a:r>
              <a:rPr lang="en-GB"/>
              <a:t> que relacione variable(s) independiente(s) con variable dependiente</a:t>
            </a:r>
            <a:endParaRPr/>
          </a:p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472425" y="1990350"/>
            <a:ext cx="2198100" cy="20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Variable(s) independiente(s)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-GB"/>
              <a:t>X</a:t>
            </a:r>
            <a:endParaRPr b="1"/>
          </a:p>
        </p:txBody>
      </p:sp>
      <p:pic>
        <p:nvPicPr>
          <p:cNvPr id="134" name="Google Shape;1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5175" y="3069700"/>
            <a:ext cx="2533650" cy="1162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10"/>
          <p:cNvSpPr txBox="1"/>
          <p:nvPr>
            <p:ph idx="1" type="body"/>
          </p:nvPr>
        </p:nvSpPr>
        <p:spPr>
          <a:xfrm>
            <a:off x="6473475" y="1990350"/>
            <a:ext cx="2198100" cy="20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Variable dependiente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-GB"/>
              <a:t>Y</a:t>
            </a:r>
            <a:endParaRPr b="1"/>
          </a:p>
        </p:txBody>
      </p:sp>
      <p:sp>
        <p:nvSpPr>
          <p:cNvPr id="136" name="Google Shape;136;p10"/>
          <p:cNvSpPr txBox="1"/>
          <p:nvPr>
            <p:ph idx="1" type="body"/>
          </p:nvPr>
        </p:nvSpPr>
        <p:spPr>
          <a:xfrm>
            <a:off x="3472950" y="1668875"/>
            <a:ext cx="21981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 sz="2200">
                <a:solidFill>
                  <a:schemeClr val="dk2"/>
                </a:solidFill>
              </a:rPr>
              <a:t>Modelo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2349175" y="3428125"/>
            <a:ext cx="432900" cy="44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6361925" y="3428125"/>
            <a:ext cx="432900" cy="44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490250" y="526350"/>
            <a:ext cx="6033642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¿Para qué modelizar?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II. Problemas de predicción y problemas de inferencia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Dos tipos de razones diferentes para modelizar</a:t>
            </a:r>
            <a:endParaRPr/>
          </a:p>
        </p:txBody>
      </p:sp>
      <p:sp>
        <p:nvSpPr>
          <p:cNvPr id="154" name="Google Shape;154;p13"/>
          <p:cNvSpPr txBox="1"/>
          <p:nvPr>
            <p:ph idx="1" type="body"/>
          </p:nvPr>
        </p:nvSpPr>
        <p:spPr>
          <a:xfrm>
            <a:off x="311700" y="1152475"/>
            <a:ext cx="4060500" cy="341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GB" sz="2800">
                <a:solidFill>
                  <a:schemeClr val="lt1"/>
                </a:solidFill>
              </a:rPr>
              <a:t>Predecir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 sz="2000">
                <a:solidFill>
                  <a:schemeClr val="lt1"/>
                </a:solidFill>
              </a:rPr>
              <a:t>Tenemos valores de un conjunto de variables independientes (X₁, X₂, etc.) y queremos un modelo que </a:t>
            </a:r>
            <a:r>
              <a:rPr b="1" lang="en-GB" sz="2000" u="sng">
                <a:solidFill>
                  <a:schemeClr val="lt1"/>
                </a:solidFill>
              </a:rPr>
              <a:t>prediga</a:t>
            </a:r>
            <a:r>
              <a:rPr b="1" lang="en-GB" sz="2000">
                <a:solidFill>
                  <a:schemeClr val="lt1"/>
                </a:solidFill>
              </a:rPr>
              <a:t> el valor </a:t>
            </a:r>
            <a:r>
              <a:rPr lang="en-GB" sz="2000">
                <a:solidFill>
                  <a:schemeClr val="lt1"/>
                </a:solidFill>
              </a:rPr>
              <a:t>de la variable dependiente (Y).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55" name="Google Shape;155;p13"/>
          <p:cNvSpPr txBox="1"/>
          <p:nvPr>
            <p:ph idx="1" type="body"/>
          </p:nvPr>
        </p:nvSpPr>
        <p:spPr>
          <a:xfrm>
            <a:off x="4771795" y="1152475"/>
            <a:ext cx="4060500" cy="3416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GB" sz="2800">
                <a:solidFill>
                  <a:schemeClr val="dk2"/>
                </a:solidFill>
              </a:rPr>
              <a:t>Inferir</a:t>
            </a:r>
            <a:endParaRPr b="1" sz="34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 sz="2000">
                <a:solidFill>
                  <a:schemeClr val="dk2"/>
                </a:solidFill>
              </a:rPr>
              <a:t>Queremos </a:t>
            </a:r>
            <a:r>
              <a:rPr b="1" lang="en-GB" sz="2000">
                <a:solidFill>
                  <a:schemeClr val="dk2"/>
                </a:solidFill>
              </a:rPr>
              <a:t>comprender la </a:t>
            </a:r>
            <a:r>
              <a:rPr b="1" lang="en-GB" sz="2000" u="sng">
                <a:solidFill>
                  <a:schemeClr val="dk2"/>
                </a:solidFill>
              </a:rPr>
              <a:t>relación</a:t>
            </a:r>
            <a:r>
              <a:rPr b="1" lang="en-GB" sz="2000">
                <a:solidFill>
                  <a:schemeClr val="dk2"/>
                </a:solidFill>
              </a:rPr>
              <a:t> </a:t>
            </a:r>
            <a:r>
              <a:rPr lang="en-GB" sz="2000">
                <a:solidFill>
                  <a:schemeClr val="dk2"/>
                </a:solidFill>
              </a:rPr>
              <a:t>entre la variable dependiente (Y) y el conjunto de variables independientes (X₁, X₂, etc.).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chemeClr val="dk2"/>
                </a:solidFill>
              </a:rPr>
              <a:t>Predicción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61" name="Google Shape;161;p14"/>
          <p:cNvSpPr txBox="1"/>
          <p:nvPr>
            <p:ph idx="1" type="body"/>
          </p:nvPr>
        </p:nvSpPr>
        <p:spPr>
          <a:xfrm>
            <a:off x="311699" y="1152475"/>
            <a:ext cx="8045317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i="1" lang="en-GB" sz="2000">
                <a:solidFill>
                  <a:schemeClr val="dk2"/>
                </a:solidFill>
              </a:rPr>
              <a:t>f</a:t>
            </a:r>
            <a:r>
              <a:rPr lang="en-GB" sz="2000"/>
              <a:t> puede funcionar como una </a:t>
            </a:r>
            <a:r>
              <a:rPr b="1" lang="en-GB" sz="2000"/>
              <a:t>caja negra.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2000"/>
              <a:t>El </a:t>
            </a:r>
            <a:r>
              <a:rPr b="1" lang="en-GB" sz="2000"/>
              <a:t>error</a:t>
            </a:r>
            <a:r>
              <a:rPr lang="en-GB" sz="2000"/>
              <a:t> de nuestras predicciones se puede descomponer en dos partes: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GB" sz="2000"/>
              <a:t>Reducible: mejorar </a:t>
            </a:r>
            <a:r>
              <a:rPr lang="en-GB" sz="2000">
                <a:solidFill>
                  <a:schemeClr val="dk2"/>
                </a:solidFill>
              </a:rPr>
              <a:t>f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GB" sz="2000"/>
              <a:t>Irreducible: </a:t>
            </a:r>
            <a:r>
              <a:rPr lang="en-GB" sz="2000">
                <a:solidFill>
                  <a:schemeClr val="dk2"/>
                </a:solidFill>
              </a:rPr>
              <a:t>ϵ </a:t>
            </a:r>
            <a:r>
              <a:rPr lang="en-GB" sz="2000"/>
              <a:t>(variables que no incluimos o no podemos medir)</a:t>
            </a:r>
            <a:endParaRPr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b="1" sz="2000"/>
          </a:p>
        </p:txBody>
      </p:sp>
      <p:pic>
        <p:nvPicPr>
          <p:cNvPr descr="Formas básicas con relleno sólido" id="162" name="Google Shape;1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624" y="3601722"/>
            <a:ext cx="1283676" cy="128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chemeClr val="dk2"/>
                </a:solidFill>
              </a:rPr>
              <a:t>Inferencia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68" name="Google Shape;168;p15"/>
          <p:cNvSpPr txBox="1"/>
          <p:nvPr>
            <p:ph idx="1" type="body"/>
          </p:nvPr>
        </p:nvSpPr>
        <p:spPr>
          <a:xfrm>
            <a:off x="311699" y="1152475"/>
            <a:ext cx="687161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i="1" lang="en-GB" sz="2000">
                <a:solidFill>
                  <a:schemeClr val="dk2"/>
                </a:solidFill>
              </a:rPr>
              <a:t>f</a:t>
            </a:r>
            <a:r>
              <a:rPr lang="en-GB" sz="2000"/>
              <a:t> </a:t>
            </a:r>
            <a:r>
              <a:rPr b="1" lang="en-GB" sz="2000" u="sng"/>
              <a:t>no</a:t>
            </a:r>
            <a:r>
              <a:rPr lang="en-GB" sz="2000"/>
              <a:t> puede funcionar como una </a:t>
            </a:r>
            <a:r>
              <a:rPr b="1" lang="en-GB" sz="2000"/>
              <a:t>caja negra.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2000"/>
              <a:t>La </a:t>
            </a:r>
            <a:r>
              <a:rPr b="1" lang="en-GB" sz="2000"/>
              <a:t>calidad</a:t>
            </a:r>
            <a:r>
              <a:rPr lang="en-GB" sz="2000"/>
              <a:t> de nuestros resultados depende de una serie de </a:t>
            </a:r>
            <a:r>
              <a:rPr b="1" lang="en-GB" sz="2000"/>
              <a:t>supuestos</a:t>
            </a:r>
            <a:r>
              <a:rPr lang="en-GB" sz="2000"/>
              <a:t> acerca de la distribución de los datos.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2000"/>
              <a:t>Nuestro interés principal son preguntas como: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GB" sz="1600"/>
              <a:t>¿Qué variables X están relacionadas con Y?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GB" sz="1600"/>
              <a:t>¿Qué dirección tienen estas relaciones?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GB" sz="1600"/>
              <a:t>¿Qué efecto tiene cada variable X en la variable Y?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GB" sz="1600"/>
              <a:t>¿Las relaciones son lineales o no lineales?</a:t>
            </a:r>
            <a:endParaRPr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pic>
        <p:nvPicPr>
          <p:cNvPr descr="Formas básicas con relleno sólido" id="169" name="Google Shape;1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624" y="3601722"/>
            <a:ext cx="1283676" cy="128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65d5ea32f_1_40"/>
          <p:cNvSpPr txBox="1"/>
          <p:nvPr>
            <p:ph type="title"/>
          </p:nvPr>
        </p:nvSpPr>
        <p:spPr>
          <a:xfrm>
            <a:off x="261150" y="463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chemeClr val="dk2"/>
                </a:solidFill>
              </a:rPr>
              <a:t>OJO! Un detalle sobre la Inferencia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75" name="Google Shape;175;g3f65d5ea32f_1_40"/>
          <p:cNvSpPr txBox="1"/>
          <p:nvPr>
            <p:ph idx="1" type="body"/>
          </p:nvPr>
        </p:nvSpPr>
        <p:spPr>
          <a:xfrm>
            <a:off x="311699" y="1152475"/>
            <a:ext cx="687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2000"/>
              <a:t>En el mundo del machine learning a veces se suele utilizar el término </a:t>
            </a:r>
            <a:r>
              <a:rPr b="1" lang="en-GB" sz="2000"/>
              <a:t>inferencia</a:t>
            </a:r>
            <a:r>
              <a:rPr lang="en-GB" sz="2000"/>
              <a:t> para referirse a la instancia donde corremos el modelo sobre datos nuevos para generar predicciones</a:t>
            </a:r>
            <a:endParaRPr sz="2000"/>
          </a:p>
          <a:p>
            <a:pPr indent="-298450" lvl="0" marL="2857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en-GB" sz="2000"/>
              <a:t>Esto es para distinguirlo de la etapa de </a:t>
            </a:r>
            <a:r>
              <a:rPr b="1" lang="en-GB" sz="2000"/>
              <a:t>entrenamiento</a:t>
            </a:r>
            <a:endParaRPr sz="2000"/>
          </a:p>
          <a:p>
            <a:pPr indent="-298450" lvl="0" marL="2857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en-GB" sz="2000"/>
              <a:t>Si bien es un uso extendido, acá hablamos de inferencia en sentido estadístico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pic>
        <p:nvPicPr>
          <p:cNvPr descr="Formas básicas con relleno sólido" id="176" name="Google Shape;176;g3f65d5ea32f_1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624" y="3601722"/>
            <a:ext cx="1283676" cy="128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490250" y="526350"/>
            <a:ext cx="7106304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44144"/>
              <a:buNone/>
            </a:pPr>
            <a:r>
              <a:rPr lang="en-GB" sz="3700"/>
              <a:t>¿Cuándo usamos cada tipo de modelo?</a:t>
            </a:r>
            <a:br>
              <a:rPr lang="en-GB" sz="3700"/>
            </a:br>
            <a:br>
              <a:rPr lang="en-GB" sz="3700"/>
            </a:br>
            <a:r>
              <a:rPr b="1" lang="en-GB" sz="3700"/>
              <a:t>Discusión</a:t>
            </a:r>
            <a:r>
              <a:rPr lang="en-GB" sz="3700"/>
              <a:t>: </a:t>
            </a:r>
            <a:br>
              <a:rPr lang="en-GB" sz="3700"/>
            </a:br>
            <a:r>
              <a:rPr lang="en-GB" sz="3700"/>
              <a:t>¿qué pasa si nuestro modelo de inferencia no predice bien?</a:t>
            </a:r>
            <a:br>
              <a:rPr lang="en-GB" sz="3700"/>
            </a:br>
            <a:br>
              <a:rPr lang="en-GB" sz="3700"/>
            </a:br>
            <a:r>
              <a:rPr lang="en-GB" sz="3700"/>
              <a:t>+problemas para predecir por fuera del intervalo de entrenamiento </a:t>
            </a:r>
            <a:br>
              <a:rPr lang="en-GB" sz="3700"/>
            </a:br>
            <a:r>
              <a:rPr lang="en-GB" sz="2000"/>
              <a:t>(e.g.: predecir el futuro con datos del pasado)</a:t>
            </a:r>
            <a:endParaRPr sz="3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311699" y="1152475"/>
            <a:ext cx="687161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b="1"/>
          </a:p>
        </p:txBody>
      </p:sp>
      <p:pic>
        <p:nvPicPr>
          <p:cNvPr descr="Diagrama, Escala de tiempo&#10;&#10;Descripción generada automáticamente"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0" y="0"/>
            <a:ext cx="91402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¿Conocemos el output a priori?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III. Métodos de aprendizaje supervisado y métodos de aprendizaje no supervisado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En módulo 3 veremos aprendizaje supervisado</a:t>
            </a:r>
            <a:endParaRPr/>
          </a:p>
        </p:txBody>
      </p:sp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311700" y="1152475"/>
            <a:ext cx="4060500" cy="341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1448"/>
              <a:buNone/>
            </a:pPr>
            <a:r>
              <a:rPr b="1" lang="en-GB" sz="2600">
                <a:solidFill>
                  <a:schemeClr val="lt1"/>
                </a:solidFill>
              </a:rPr>
              <a:t>Aprendizaje supervisado (supervised learning)</a:t>
            </a:r>
            <a:endParaRPr b="1"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ct val="105882"/>
              <a:buNone/>
            </a:pPr>
            <a:r>
              <a:rPr lang="en-GB" sz="2000">
                <a:solidFill>
                  <a:schemeClr val="lt1"/>
                </a:solidFill>
              </a:rPr>
              <a:t>Conocemos los valores de Y para un set de casos y estimamos la función </a:t>
            </a:r>
            <a:r>
              <a:rPr i="1" lang="en-GB" sz="2000">
                <a:solidFill>
                  <a:schemeClr val="lt1"/>
                </a:solidFill>
              </a:rPr>
              <a:t>f</a:t>
            </a:r>
            <a:r>
              <a:rPr lang="en-GB" sz="2000">
                <a:solidFill>
                  <a:schemeClr val="lt1"/>
                </a:solidFill>
              </a:rPr>
              <a:t> que relaciona X con Y para predecir Y futuros o inferir relaciones (regresiones, clasificaciones, etc.)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4771795" y="1152475"/>
            <a:ext cx="4060500" cy="3416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GB" sz="2200"/>
              <a:t>Aprendizaje no supervisado (unsupervised learning)</a:t>
            </a:r>
            <a:endParaRPr b="1" sz="2200"/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lang="en-GB" sz="1700"/>
              <a:t>No conocemos los posibles valores objetivo de Y que buscamos (por ejemplo, clustering).</a:t>
            </a:r>
            <a:endParaRPr sz="1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¿Qué modelizar?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IV. Problemas de regresión y problemas de clasificación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Predecir un valor o clasificar en una categoría</a:t>
            </a:r>
            <a:endParaRPr/>
          </a:p>
        </p:txBody>
      </p:sp>
      <p:sp>
        <p:nvSpPr>
          <p:cNvPr id="221" name="Google Shape;221;p23"/>
          <p:cNvSpPr txBox="1"/>
          <p:nvPr>
            <p:ph idx="1" type="body"/>
          </p:nvPr>
        </p:nvSpPr>
        <p:spPr>
          <a:xfrm>
            <a:off x="5069325" y="1152475"/>
            <a:ext cx="3762900" cy="3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GB"/>
              <a:t>En modelos de </a:t>
            </a:r>
            <a:r>
              <a:rPr b="1" lang="en-GB">
                <a:highlight>
                  <a:schemeClr val="lt2"/>
                </a:highlight>
              </a:rPr>
              <a:t>regresión</a:t>
            </a:r>
            <a:r>
              <a:rPr lang="en-GB"/>
              <a:t>, Y es una variable cuantitativa. El modelo nos proporciona una función que nos da valores predichos de Y para los diferentes valores de X₁, X₂, etc.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lang="en-GB"/>
              <a:t>En modelos de </a:t>
            </a:r>
            <a:r>
              <a:rPr b="1" lang="en-GB">
                <a:highlight>
                  <a:schemeClr val="lt2"/>
                </a:highlight>
              </a:rPr>
              <a:t>clasificación</a:t>
            </a:r>
            <a:r>
              <a:rPr lang="en-GB"/>
              <a:t>, Y es una variable categórica y el modelo nos da la probabilidad de que cada caso quede en cada categoría.</a:t>
            </a:r>
            <a:endParaRPr/>
          </a:p>
        </p:txBody>
      </p:sp>
      <p:pic>
        <p:nvPicPr>
          <p:cNvPr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1" y="1152475"/>
            <a:ext cx="4603047" cy="37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Cómo modelizar?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V. Métodos paramétricos y métodos no paramétricos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Asumir la forma de </a:t>
            </a:r>
            <a:r>
              <a:rPr i="1" lang="en-GB"/>
              <a:t>f</a:t>
            </a:r>
            <a:r>
              <a:rPr lang="en-GB"/>
              <a:t> o no asumirla</a:t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2273" y="1946355"/>
            <a:ext cx="3970025" cy="308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923679"/>
            <a:ext cx="3885219" cy="308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6"/>
          <p:cNvSpPr txBox="1"/>
          <p:nvPr>
            <p:ph idx="1" type="body"/>
          </p:nvPr>
        </p:nvSpPr>
        <p:spPr>
          <a:xfrm>
            <a:off x="311625" y="1076275"/>
            <a:ext cx="852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/>
              <a:t>Los modelos </a:t>
            </a:r>
            <a:r>
              <a:rPr b="1" lang="en-GB"/>
              <a:t>paramétricos</a:t>
            </a:r>
            <a:r>
              <a:rPr lang="en-GB"/>
              <a:t> asumen la </a:t>
            </a:r>
            <a:r>
              <a:rPr lang="en-GB">
                <a:highlight>
                  <a:schemeClr val="lt2"/>
                </a:highlight>
              </a:rPr>
              <a:t>forma de la función</a:t>
            </a:r>
            <a:r>
              <a:rPr lang="en-GB"/>
              <a:t>. Los métodos </a:t>
            </a:r>
            <a:r>
              <a:rPr b="1" lang="en-GB"/>
              <a:t>no paramétricos</a:t>
            </a:r>
            <a:r>
              <a:rPr lang="en-GB"/>
              <a:t>, </a:t>
            </a:r>
            <a:r>
              <a:rPr lang="en-GB">
                <a:highlight>
                  <a:schemeClr val="lt2"/>
                </a:highlight>
              </a:rPr>
              <a:t>no</a:t>
            </a:r>
            <a:r>
              <a:rPr lang="en-GB"/>
              <a:t>, y pueden tener diferentes formas para diferentes valores de X.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chemeClr val="dk2"/>
                </a:solidFill>
              </a:rPr>
              <a:t>Modelos paramétricos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246" name="Google Shape;246;p27"/>
          <p:cNvSpPr txBox="1"/>
          <p:nvPr>
            <p:ph idx="1" type="body"/>
          </p:nvPr>
        </p:nvSpPr>
        <p:spPr>
          <a:xfrm>
            <a:off x="311699" y="1152475"/>
            <a:ext cx="860744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/>
              <a:t>Pasos</a:t>
            </a:r>
            <a:r>
              <a:rPr lang="en-GB"/>
              <a:t> a seguir:</a:t>
            </a:r>
            <a:endParaRPr/>
          </a:p>
          <a:p>
            <a:pPr indent="-317500" lvl="1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 sz="1800"/>
              <a:t>Suponemos que </a:t>
            </a:r>
            <a:r>
              <a:rPr i="1" lang="en-GB" sz="1800">
                <a:solidFill>
                  <a:schemeClr val="dk2"/>
                </a:solidFill>
              </a:rPr>
              <a:t>f</a:t>
            </a:r>
            <a:r>
              <a:rPr lang="en-GB" sz="1800"/>
              <a:t> tiene cierta forma funcional.</a:t>
            </a:r>
            <a:endParaRPr/>
          </a:p>
          <a:p>
            <a:pPr indent="-317500" lvl="1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 sz="1800"/>
              <a:t>Ajustamos el modelo.</a:t>
            </a:r>
            <a:endParaRPr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/>
              <a:t>Ventajas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GB" sz="1800"/>
              <a:t>Suponer una forma funcional simplifica la estimación de los parámetros.</a:t>
            </a:r>
            <a:endParaRPr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/>
              <a:t>Desventajas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GB" sz="1800"/>
              <a:t>La forma funcional que elegimos difícilmente coincida con la forma real de </a:t>
            </a:r>
            <a:r>
              <a:rPr i="1" lang="en-GB" sz="1800">
                <a:solidFill>
                  <a:schemeClr val="dk2"/>
                </a:solidFill>
              </a:rPr>
              <a:t>f</a:t>
            </a:r>
            <a:r>
              <a:rPr lang="en-GB" sz="1800"/>
              <a:t> .</a:t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b="1"/>
          </a:p>
        </p:txBody>
      </p:sp>
      <p:pic>
        <p:nvPicPr>
          <p:cNvPr descr="Configuración contorno" id="247" name="Google Shape;2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5684" y="153067"/>
            <a:ext cx="1156616" cy="11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chemeClr val="dk2"/>
                </a:solidFill>
              </a:rPr>
              <a:t>Modelos </a:t>
            </a:r>
            <a:r>
              <a:rPr b="1" lang="en-GB">
                <a:solidFill>
                  <a:schemeClr val="accent2"/>
                </a:solidFill>
              </a:rPr>
              <a:t>no</a:t>
            </a:r>
            <a:r>
              <a:rPr b="1" lang="en-GB">
                <a:solidFill>
                  <a:schemeClr val="dk2"/>
                </a:solidFill>
              </a:rPr>
              <a:t> paramétricos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253" name="Google Shape;253;p28"/>
          <p:cNvSpPr txBox="1"/>
          <p:nvPr>
            <p:ph idx="1" type="body"/>
          </p:nvPr>
        </p:nvSpPr>
        <p:spPr>
          <a:xfrm>
            <a:off x="311699" y="1152475"/>
            <a:ext cx="7955376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/>
              <a:t>Ventajas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GB" sz="1800"/>
              <a:t>Al no suponer una forma funcional para f, tienen el potencial de ajustarse con </a:t>
            </a:r>
            <a:r>
              <a:rPr b="1" lang="en-GB" sz="1800"/>
              <a:t>precisión</a:t>
            </a:r>
            <a:r>
              <a:rPr lang="en-GB" sz="1800"/>
              <a:t> a una gama más amplia de formas posibles para </a:t>
            </a:r>
            <a:r>
              <a:rPr i="1" lang="en-GB" sz="1800">
                <a:solidFill>
                  <a:schemeClr val="dk2"/>
                </a:solidFill>
              </a:rPr>
              <a:t>f</a:t>
            </a:r>
            <a:r>
              <a:rPr lang="en-GB" sz="1800"/>
              <a:t>.</a:t>
            </a:r>
            <a:endParaRPr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/>
              <a:t>Desventajas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GB" sz="1800"/>
              <a:t>Necesitamos una </a:t>
            </a:r>
            <a:r>
              <a:rPr b="1" lang="en-GB" sz="1800"/>
              <a:t>cantidad de observaciones </a:t>
            </a:r>
            <a:r>
              <a:rPr lang="en-GB" sz="1800"/>
              <a:t>mayor que en el caso de los modelos paramétricos.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GB" sz="1800"/>
              <a:t>Peligro de </a:t>
            </a:r>
            <a:r>
              <a:rPr b="1" lang="en-GB" sz="1800"/>
              <a:t>overfitting</a:t>
            </a:r>
            <a:r>
              <a:rPr lang="en-GB" sz="1800"/>
              <a:t>.</a:t>
            </a:r>
            <a:endParaRPr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onfiguración contorno" id="254" name="Google Shape;2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5684" y="153067"/>
            <a:ext cx="1156616" cy="11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Nos interesa más el cuánto o el cómo?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VI.Trade-off precisión-interpretabilidad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Precisión a cualquier costo no es siempre lo mejor</a:t>
            </a:r>
            <a:endParaRPr/>
          </a:p>
        </p:txBody>
      </p:sp>
      <p:sp>
        <p:nvSpPr>
          <p:cNvPr id="270" name="Google Shape;270;p31"/>
          <p:cNvSpPr txBox="1"/>
          <p:nvPr>
            <p:ph idx="1" type="body"/>
          </p:nvPr>
        </p:nvSpPr>
        <p:spPr>
          <a:xfrm>
            <a:off x="311625" y="1152475"/>
            <a:ext cx="4819500" cy="3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/>
              <a:t>Modelos más precisos y menos restrictivos (no paramétricos, no lineales o que incorporen un alto número de variables independientes) reducen la </a:t>
            </a:r>
            <a:r>
              <a:rPr lang="en-GB">
                <a:highlight>
                  <a:schemeClr val="lt2"/>
                </a:highlight>
              </a:rPr>
              <a:t>interpretabilidad</a:t>
            </a:r>
            <a:r>
              <a:rPr lang="en-GB"/>
              <a:t> de las relaciones. Es necesario evaluar si la ganancia en </a:t>
            </a:r>
            <a:r>
              <a:rPr lang="en-GB">
                <a:highlight>
                  <a:schemeClr val="lt2"/>
                </a:highlight>
              </a:rPr>
              <a:t>precisión</a:t>
            </a:r>
            <a:r>
              <a:rPr lang="en-GB"/>
              <a:t> compensa ese costo (además de la mayor posibilidad de </a:t>
            </a:r>
            <a:r>
              <a:rPr i="1" lang="en-GB">
                <a:highlight>
                  <a:schemeClr val="lt2"/>
                </a:highlight>
              </a:rPr>
              <a:t>overfitting</a:t>
            </a:r>
            <a:r>
              <a:rPr lang="en-GB"/>
              <a:t>).</a:t>
            </a:r>
            <a:endParaRPr/>
          </a:p>
        </p:txBody>
      </p:sp>
      <p:pic>
        <p:nvPicPr>
          <p:cNvPr descr="Foto montaje de la cara de un hombre&#10;&#10;Descripción generada automáticamente" id="271" name="Google Shape;27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0016" y="2029613"/>
            <a:ext cx="3332284" cy="149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VII.Trade-off sesgo-varianza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Buscar el mejor equilibrio para cada modelo</a:t>
            </a:r>
            <a:endParaRPr/>
          </a:p>
        </p:txBody>
      </p:sp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-GB">
                <a:highlight>
                  <a:schemeClr val="lt2"/>
                </a:highlight>
              </a:rPr>
              <a:t>Varianza</a:t>
            </a:r>
            <a:r>
              <a:rPr b="1" lang="en-GB"/>
              <a:t>: </a:t>
            </a:r>
            <a:r>
              <a:rPr lang="en-GB"/>
              <a:t>cantidad que variaría la estimación de </a:t>
            </a:r>
            <a:r>
              <a:rPr i="1" lang="en-GB"/>
              <a:t>f</a:t>
            </a:r>
            <a:r>
              <a:rPr lang="en-GB"/>
              <a:t> si usarámos otro </a:t>
            </a:r>
            <a:r>
              <a:rPr i="1" lang="en-GB"/>
              <a:t>set</a:t>
            </a:r>
            <a:r>
              <a:rPr lang="en-GB"/>
              <a:t> de entrenamiento. Métodos </a:t>
            </a:r>
            <a:r>
              <a:rPr b="1" lang="en-GB"/>
              <a:t>más flexibles </a:t>
            </a:r>
            <a:r>
              <a:rPr lang="en-GB"/>
              <a:t>tienen </a:t>
            </a:r>
            <a:r>
              <a:rPr b="1" lang="en-GB"/>
              <a:t>más varianza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b="1" lang="en-GB">
                <a:highlight>
                  <a:schemeClr val="lt2"/>
                </a:highlight>
              </a:rPr>
              <a:t>Sesgo</a:t>
            </a:r>
            <a:r>
              <a:rPr b="1" lang="en-GB"/>
              <a:t>:</a:t>
            </a:r>
            <a:r>
              <a:rPr lang="en-GB"/>
              <a:t> cualidad del modelo de sistemáticamente subestimar o sobreestimar el valor a predecir. Métodos </a:t>
            </a:r>
            <a:r>
              <a:rPr b="1" lang="en-GB"/>
              <a:t>menos flexibles</a:t>
            </a:r>
            <a:r>
              <a:rPr lang="en-GB"/>
              <a:t> tienen </a:t>
            </a:r>
            <a:r>
              <a:rPr b="1" lang="en-GB"/>
              <a:t>más sesgo</a:t>
            </a:r>
            <a:r>
              <a:rPr lang="en-GB"/>
              <a:t>.</a:t>
            </a:r>
            <a:endParaRPr/>
          </a:p>
        </p:txBody>
      </p:sp>
      <p:pic>
        <p:nvPicPr>
          <p:cNvPr id="283" name="Google Shape;28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42672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¿Cuán bueno es el modelo?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VIII. Calidad del fit: Train-Test split y métricas básicas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 txBox="1"/>
          <p:nvPr>
            <p:ph type="title"/>
          </p:nvPr>
        </p:nvSpPr>
        <p:spPr>
          <a:xfrm>
            <a:off x="1360967" y="252593"/>
            <a:ext cx="7345229" cy="29797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-GB" sz="1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GB" sz="1600">
                <a:solidFill>
                  <a:schemeClr val="accent3"/>
                </a:solidFill>
              </a:rPr>
            </a:br>
            <a:endParaRPr sz="16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6"/>
          <p:cNvSpPr txBox="1"/>
          <p:nvPr/>
        </p:nvSpPr>
        <p:spPr>
          <a:xfrm>
            <a:off x="212651" y="106326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7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3590"/>
              <a:buFont typeface="Proxima Nova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problema del overfitting</a:t>
            </a:r>
            <a:endParaRPr/>
          </a:p>
        </p:txBody>
      </p:sp>
      <p:pic>
        <p:nvPicPr>
          <p:cNvPr id="300" name="Google Shape;3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9700" y="825293"/>
            <a:ext cx="52863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edificio, caja, ladrillo&#10;&#10;Descripción generada automáticamente" id="301" name="Google Shape;3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162" y="784080"/>
            <a:ext cx="2386380" cy="357533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6"/>
          <p:cNvSpPr txBox="1"/>
          <p:nvPr/>
        </p:nvSpPr>
        <p:spPr>
          <a:xfrm>
            <a:off x="2838893" y="2305060"/>
            <a:ext cx="6015945" cy="2732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7500"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El problema está centralmente ligado a la </a:t>
            </a:r>
            <a:r>
              <a:rPr b="1" i="0" lang="en-GB" sz="1800" u="none" cap="none" strike="noStrike">
                <a:solidFill>
                  <a:schemeClr val="accent3"/>
                </a:solidFill>
                <a:highlight>
                  <a:schemeClr val="lt2"/>
                </a:highlight>
                <a:latin typeface="Proxima Nova"/>
                <a:ea typeface="Proxima Nova"/>
                <a:cs typeface="Proxima Nova"/>
                <a:sym typeface="Proxima Nova"/>
              </a:rPr>
              <a:t>predicción.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Nuestro interés no es que el modelo tenga buenas métricas en los datos con los que se entrenó, sino que sea bueno para predecir datos nuevos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Overfitting se puede producir por varias causas. Ej: polinomios de muy alto grado, utilización de una gran cantidad de variables, valores de parámetros que otorgan mucha flexibilidad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Train y test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title"/>
          </p:nvPr>
        </p:nvSpPr>
        <p:spPr>
          <a:xfrm>
            <a:off x="1360967" y="252593"/>
            <a:ext cx="7345229" cy="29797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-GB" sz="1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GB" sz="1600">
                <a:solidFill>
                  <a:schemeClr val="accent3"/>
                </a:solidFill>
              </a:rPr>
            </a:br>
            <a:endParaRPr sz="16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212651" y="106326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7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3590"/>
              <a:buFont typeface="Proxima Nova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 – Test split</a:t>
            </a:r>
            <a:endParaRPr/>
          </a:p>
        </p:txBody>
      </p:sp>
      <p:sp>
        <p:nvSpPr>
          <p:cNvPr id="314" name="Google Shape;314;p38"/>
          <p:cNvSpPr txBox="1"/>
          <p:nvPr/>
        </p:nvSpPr>
        <p:spPr>
          <a:xfrm>
            <a:off x="5007329" y="679025"/>
            <a:ext cx="3994263" cy="43576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 lnSpcReduction="10000"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Técnica para lidiar con el overfitting: Se evalua la calidad de las predicciones sobre </a:t>
            </a:r>
            <a:r>
              <a:rPr b="0" i="0" lang="en-GB" sz="1800" u="none" cap="none" strike="noStrike">
                <a:solidFill>
                  <a:schemeClr val="accent3"/>
                </a:solidFill>
                <a:highlight>
                  <a:schemeClr val="lt2"/>
                </a:highlight>
                <a:latin typeface="Proxima Nova"/>
                <a:ea typeface="Proxima Nova"/>
                <a:cs typeface="Proxima Nova"/>
                <a:sym typeface="Proxima Nova"/>
              </a:rPr>
              <a:t>datos no utilizados para entrenar el modelo</a:t>
            </a: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/>
          </a:p>
          <a:p>
            <a:pPr indent="-18288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Se divide el dataset utilizando una parte para entrenamiento del modelo y otra para testeo</a:t>
            </a:r>
            <a:endParaRPr/>
          </a:p>
          <a:p>
            <a:pPr indent="-18288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Se estiman las métricas de calidad de las predicciones en la base de testeo (es decir sobre casos que no fueron utilizados para entrenar el modelo)</a:t>
            </a:r>
            <a:endParaRPr b="1" i="0" sz="1800" u="none" cap="none" strike="noStrike">
              <a:solidFill>
                <a:schemeClr val="accent3"/>
              </a:solidFill>
              <a:highlight>
                <a:schemeClr val="lt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8288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Para elegir modelos o </a:t>
            </a:r>
            <a:r>
              <a:rPr b="1" i="0" lang="en-GB" sz="1800" u="none" cap="none" strike="noStrike">
                <a:solidFill>
                  <a:schemeClr val="accent3"/>
                </a:solidFill>
                <a:highlight>
                  <a:schemeClr val="lt2"/>
                </a:highlight>
                <a:latin typeface="Proxima Nova"/>
                <a:ea typeface="Proxima Nova"/>
                <a:cs typeface="Proxima Nova"/>
                <a:sym typeface="Proxima Nova"/>
              </a:rPr>
              <a:t>hiperparámetros</a:t>
            </a:r>
            <a:r>
              <a:rPr b="1" i="1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,</a:t>
            </a: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antes de evaluar en el </a:t>
            </a:r>
            <a:r>
              <a:rPr b="0" i="1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test </a:t>
            </a:r>
            <a:r>
              <a:rPr b="0" i="0" lang="en-GB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set se utilizan técnicas de </a:t>
            </a:r>
            <a:r>
              <a:rPr b="0" i="0" lang="en-GB" sz="1800" u="none" cap="none" strike="noStrike">
                <a:solidFill>
                  <a:schemeClr val="accent3"/>
                </a:solidFill>
                <a:highlight>
                  <a:schemeClr val="lt2"/>
                </a:highlight>
                <a:latin typeface="Proxima Nova"/>
                <a:ea typeface="Proxima Nova"/>
                <a:cs typeface="Proxima Nova"/>
                <a:sym typeface="Proxima Nova"/>
              </a:rPr>
              <a:t>validación</a:t>
            </a:r>
            <a:endParaRPr/>
          </a:p>
        </p:txBody>
      </p:sp>
      <p:pic>
        <p:nvPicPr>
          <p:cNvPr descr="How to Train and Test Data Like a Pro - SDS Club" id="315" name="Google Shape;31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50" y="679026"/>
            <a:ext cx="4985179" cy="3639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/>
          <p:nvPr>
            <p:ph type="title"/>
          </p:nvPr>
        </p:nvSpPr>
        <p:spPr>
          <a:xfrm>
            <a:off x="490250" y="526350"/>
            <a:ext cx="819655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Mean Squeared Error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sz="2800"/>
              <a:t>Mean Squared </a:t>
            </a:r>
            <a:r>
              <a:rPr lang="en-GB"/>
              <a:t>E</a:t>
            </a:r>
            <a:r>
              <a:rPr lang="en-GB" sz="2800"/>
              <a:t>rror (</a:t>
            </a:r>
            <a:r>
              <a:rPr lang="en-GB"/>
              <a:t>MSE</a:t>
            </a:r>
            <a:r>
              <a:rPr lang="en-GB" sz="2800"/>
              <a:t>)</a:t>
            </a:r>
            <a:endParaRPr/>
          </a:p>
        </p:txBody>
      </p:sp>
      <p:sp>
        <p:nvSpPr>
          <p:cNvPr id="326" name="Google Shape;326;p40"/>
          <p:cNvSpPr txBox="1"/>
          <p:nvPr>
            <p:ph idx="1" type="body"/>
          </p:nvPr>
        </p:nvSpPr>
        <p:spPr>
          <a:xfrm>
            <a:off x="311699" y="1301261"/>
            <a:ext cx="8049785" cy="32676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33" l="0" r="0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 </a:t>
            </a:r>
            <a:endParaRPr/>
          </a:p>
        </p:txBody>
      </p:sp>
      <p:pic>
        <p:nvPicPr>
          <p:cNvPr descr="Diana contorno" id="327" name="Google Shape;32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7900" y="393801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Lo importante: MSE en el set de </a:t>
            </a:r>
            <a:r>
              <a:rPr b="1" lang="en-GB">
                <a:solidFill>
                  <a:schemeClr val="dk1"/>
                </a:solidFill>
                <a:highlight>
                  <a:schemeClr val="lt2"/>
                </a:highlight>
              </a:rPr>
              <a:t>testing</a:t>
            </a:r>
            <a:endParaRPr b="1">
              <a:solidFill>
                <a:schemeClr val="dk1"/>
              </a:solidFill>
              <a:highlight>
                <a:schemeClr val="lt2"/>
              </a:highlight>
            </a:endParaRPr>
          </a:p>
        </p:txBody>
      </p:sp>
      <p:pic>
        <p:nvPicPr>
          <p:cNvPr id="333" name="Google Shape;33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5272637" cy="382097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1"/>
          <p:cNvSpPr txBox="1"/>
          <p:nvPr>
            <p:ph idx="1" type="body"/>
          </p:nvPr>
        </p:nvSpPr>
        <p:spPr>
          <a:xfrm>
            <a:off x="5425037" y="1646313"/>
            <a:ext cx="34143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ct val="100982"/>
              <a:buNone/>
            </a:pPr>
            <a:r>
              <a:rPr lang="en-GB" sz="2300"/>
              <a:t>Entendamos juntes este gráfico de MSE (mean squared error) en training y testing set.</a:t>
            </a:r>
            <a:endParaRPr sz="23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2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Matriz de confusión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50" y="24400"/>
            <a:ext cx="788749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IX. Flujo de trabajo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/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500"/>
              <a:t>Flujo de trabajo</a:t>
            </a:r>
            <a:endParaRPr sz="2500"/>
          </a:p>
        </p:txBody>
      </p:sp>
      <p:sp>
        <p:nvSpPr>
          <p:cNvPr id="355" name="Google Shape;355;p45"/>
          <p:cNvSpPr txBox="1"/>
          <p:nvPr>
            <p:ph idx="1" type="body"/>
          </p:nvPr>
        </p:nvSpPr>
        <p:spPr>
          <a:xfrm>
            <a:off x="807746" y="1043309"/>
            <a:ext cx="4326384" cy="365516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Arial"/>
              <a:buAutoNum type="arabicPeriod"/>
            </a:pPr>
            <a:r>
              <a:rPr b="1" lang="en-GB">
                <a:solidFill>
                  <a:schemeClr val="accent1"/>
                </a:solidFill>
              </a:rPr>
              <a:t>Limpiar los datos </a:t>
            </a:r>
            <a:endParaRPr/>
          </a:p>
          <a:p>
            <a:pPr indent="0" lvl="0" marL="3603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-GB">
                <a:solidFill>
                  <a:schemeClr val="accent1"/>
                </a:solidFill>
              </a:rPr>
              <a:t>(</a:t>
            </a:r>
            <a:r>
              <a:rPr b="1" i="1" lang="en-GB">
                <a:solidFill>
                  <a:schemeClr val="accent1"/>
                </a:solidFill>
              </a:rPr>
              <a:t>data cleaning/wrangling</a:t>
            </a:r>
            <a:r>
              <a:rPr b="1" lang="en-GB">
                <a:solidFill>
                  <a:schemeClr val="accent1"/>
                </a:solidFill>
              </a:rPr>
              <a:t>)</a:t>
            </a:r>
            <a:endParaRPr/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Arial"/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Arial"/>
              <a:buAutoNum type="arabicPeriod" startAt="2"/>
            </a:pPr>
            <a:r>
              <a:rPr b="1" lang="en-GB">
                <a:solidFill>
                  <a:schemeClr val="accent1"/>
                </a:solidFill>
              </a:rPr>
              <a:t>Explorar los datos </a:t>
            </a:r>
            <a:endParaRPr/>
          </a:p>
          <a:p>
            <a:pPr indent="0" lvl="0" marL="3603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-GB">
                <a:solidFill>
                  <a:schemeClr val="accent1"/>
                </a:solidFill>
              </a:rPr>
              <a:t>(</a:t>
            </a:r>
            <a:r>
              <a:rPr b="1" i="1" lang="en-GB">
                <a:solidFill>
                  <a:schemeClr val="accent1"/>
                </a:solidFill>
              </a:rPr>
              <a:t>exploratory data analysis</a:t>
            </a:r>
            <a:r>
              <a:rPr b="1" lang="en-GB">
                <a:solidFill>
                  <a:schemeClr val="accent1"/>
                </a:solidFill>
              </a:rPr>
              <a:t>)</a:t>
            </a:r>
            <a:endParaRPr/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Arial"/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Arial"/>
              <a:buAutoNum type="arabicPeriod" startAt="3"/>
            </a:pPr>
            <a:r>
              <a:rPr b="1" lang="en-GB">
                <a:solidFill>
                  <a:schemeClr val="accent1"/>
                </a:solidFill>
              </a:rPr>
              <a:t>Transformar los datos </a:t>
            </a:r>
            <a:endParaRPr/>
          </a:p>
          <a:p>
            <a:pPr indent="0" lvl="0" marL="3603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-GB">
                <a:solidFill>
                  <a:schemeClr val="accent1"/>
                </a:solidFill>
              </a:rPr>
              <a:t>(</a:t>
            </a:r>
            <a:r>
              <a:rPr b="1" i="1" lang="en-GB">
                <a:solidFill>
                  <a:schemeClr val="accent1"/>
                </a:solidFill>
              </a:rPr>
              <a:t>feature engineering</a:t>
            </a:r>
            <a:r>
              <a:rPr b="1" lang="en-GB">
                <a:solidFill>
                  <a:schemeClr val="accent1"/>
                </a:solidFill>
              </a:rPr>
              <a:t>)</a:t>
            </a:r>
            <a:endParaRPr/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Arial"/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Arial"/>
              <a:buAutoNum type="arabicPeriod" startAt="4"/>
            </a:pPr>
            <a:r>
              <a:rPr b="1" lang="en-GB">
                <a:solidFill>
                  <a:schemeClr val="accent1"/>
                </a:solidFill>
              </a:rPr>
              <a:t>Elegir y pulir el modelo </a:t>
            </a:r>
            <a:endParaRPr/>
          </a:p>
          <a:p>
            <a:pPr indent="0" lvl="0" marL="3603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-GB">
                <a:solidFill>
                  <a:schemeClr val="accent1"/>
                </a:solidFill>
              </a:rPr>
              <a:t>(</a:t>
            </a:r>
            <a:r>
              <a:rPr b="1" i="1" lang="en-GB">
                <a:solidFill>
                  <a:schemeClr val="accent1"/>
                </a:solidFill>
              </a:rPr>
              <a:t>model tuning and selection</a:t>
            </a:r>
            <a:r>
              <a:rPr b="1" lang="en-GB">
                <a:solidFill>
                  <a:schemeClr val="accent1"/>
                </a:solidFill>
              </a:rPr>
              <a:t>)</a:t>
            </a:r>
            <a:endParaRPr/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Arial"/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Arial"/>
              <a:buAutoNum type="arabicPeriod" startAt="5"/>
            </a:pPr>
            <a:r>
              <a:rPr b="1" lang="en-GB">
                <a:solidFill>
                  <a:schemeClr val="accent1"/>
                </a:solidFill>
              </a:rPr>
              <a:t>Evaluar el modelo</a:t>
            </a:r>
            <a:endParaRPr/>
          </a:p>
          <a:p>
            <a:pPr indent="0" lvl="0" marL="3603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-GB">
                <a:solidFill>
                  <a:schemeClr val="accent1"/>
                </a:solidFill>
              </a:rPr>
              <a:t>(</a:t>
            </a:r>
            <a:r>
              <a:rPr b="1" i="1" lang="en-GB">
                <a:solidFill>
                  <a:schemeClr val="accent1"/>
                </a:solidFill>
              </a:rPr>
              <a:t>model evaluation</a:t>
            </a:r>
            <a:r>
              <a:rPr b="1" lang="en-GB">
                <a:solidFill>
                  <a:schemeClr val="accent1"/>
                </a:solidFill>
              </a:rPr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</p:txBody>
      </p:sp>
      <p:pic>
        <p:nvPicPr>
          <p:cNvPr descr="Repetir contorno" id="356" name="Google Shape;35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0785" y="1564696"/>
            <a:ext cx="2435469" cy="243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/>
        </p:nvSpPr>
        <p:spPr>
          <a:xfrm>
            <a:off x="210477" y="347008"/>
            <a:ext cx="4436474" cy="38742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7500"/>
          </a:bodyPr>
          <a:lstStyle/>
          <a:p>
            <a:pPr indent="-107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9487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362" name="Google Shape;362;p46"/>
          <p:cNvGraphicFramePr/>
          <p:nvPr/>
        </p:nvGraphicFramePr>
        <p:xfrm>
          <a:off x="1451547" y="8395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{4F117918-3ED6-4DFD-B943-64CD1A0B9873}</a:tableStyleId>
              </a:tblPr>
              <a:tblGrid>
                <a:gridCol w="4376925"/>
                <a:gridCol w="1863975"/>
              </a:tblGrid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Hay que importar los datos, unir las bases, convertir en numéricas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Limpieza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Codifiquemos las variables cualitativas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Limpieza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Hay una correlación alta entre X_1 y X_2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Exploración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Hay un valor de X_3 que es atípicamente alto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Exploración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¿Cómo se correlaciona Y con las X?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Exploración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Habría que estandarizar las X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Transformación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Agreguemos los datos diarios en mensuales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Transformación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Apliquemos log a Y y X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Transformación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Tal vez apliquemos PCA a las X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Transformación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Probemos una regresión lineal, KNN y un LDA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Estimación de modelos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¿Qué K elegimos para el KNN? Cuál parece óptimo según alguna métrica?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Pulir modelo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¿Incluimos términos cuadráticos en la regresión?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Pulir modelo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¿Qué modelo tiene el menor MSE?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Evaluación de modelos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¿Qué valores de Y tienen residuos de predicción más altos?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Exploración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Eliminemos X_2, que no está aportando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Evaluación de modelos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Las predicciones mejoran si transformamos X_3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Transformación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LDA no da buenos resultados, lo dejamos de lado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Evaluación de modelos</a:t>
                      </a:r>
                      <a:endParaRPr sz="1000" u="none" cap="none" strike="noStrike">
                        <a:solidFill>
                          <a:schemeClr val="accent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3" name="Google Shape;363;p46"/>
          <p:cNvSpPr txBox="1"/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500"/>
              <a:t>Un flujo de trabajo</a:t>
            </a:r>
            <a:endParaRPr sz="25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X. tidymodels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500"/>
              <a:t>¿Por qué </a:t>
            </a:r>
            <a:r>
              <a:rPr b="1" lang="en-GB" sz="2500">
                <a:solidFill>
                  <a:schemeClr val="dk2"/>
                </a:solidFill>
              </a:rPr>
              <a:t>tidymodels</a:t>
            </a:r>
            <a:r>
              <a:rPr lang="en-GB" sz="2500"/>
              <a:t> y no R base?</a:t>
            </a:r>
            <a:endParaRPr sz="2500"/>
          </a:p>
        </p:txBody>
      </p:sp>
      <p:sp>
        <p:nvSpPr>
          <p:cNvPr id="374" name="Google Shape;374;p48"/>
          <p:cNvSpPr txBox="1"/>
          <p:nvPr>
            <p:ph idx="1" type="body"/>
          </p:nvPr>
        </p:nvSpPr>
        <p:spPr>
          <a:xfrm>
            <a:off x="311699" y="1152475"/>
            <a:ext cx="687161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600"/>
              <a:t>Fácil de </a:t>
            </a:r>
            <a:r>
              <a:rPr b="1" lang="en-GB" sz="1600"/>
              <a:t>entender</a:t>
            </a:r>
            <a:r>
              <a:rPr lang="en-GB" sz="1600"/>
              <a:t>: condición necesaria para trabajar en equipo.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 sz="1600"/>
              <a:t>Continuidad</a:t>
            </a:r>
            <a:r>
              <a:rPr lang="en-GB" sz="1600"/>
              <a:t> con la sintaxis tidyverse.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600"/>
              <a:t>Mantener </a:t>
            </a:r>
            <a:r>
              <a:rPr b="1" lang="en-GB" sz="1600"/>
              <a:t>estructuras de datos </a:t>
            </a:r>
            <a:r>
              <a:rPr lang="en-GB" sz="1600"/>
              <a:t>(dataframe).</a:t>
            </a:r>
            <a:endParaRPr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600"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600"/>
              <a:t>Fundamental: </a:t>
            </a:r>
            <a:r>
              <a:rPr b="1" lang="en-GB" sz="1600">
                <a:solidFill>
                  <a:schemeClr val="dk1"/>
                </a:solidFill>
                <a:highlight>
                  <a:schemeClr val="lt2"/>
                </a:highlight>
              </a:rPr>
              <a:t>pipes</a:t>
            </a:r>
            <a:r>
              <a:rPr lang="en-GB" sz="1600"/>
              <a:t> (%&gt;%) para encadenar secuencias complejas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chemeClr val="dk2"/>
                </a:solidFill>
              </a:rPr>
              <a:t>Ejemplo</a:t>
            </a:r>
            <a:r>
              <a:rPr lang="en-GB" sz="1600"/>
              <a:t>. Dos formas de escribir: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/>
              <a:t>	</a:t>
            </a:r>
            <a:r>
              <a:rPr lang="en-GB" sz="1600">
                <a:latin typeface="MS Mincho"/>
                <a:ea typeface="MS Mincho"/>
                <a:cs typeface="MS Mincho"/>
                <a:sym typeface="MS Mincho"/>
              </a:rPr>
              <a:t>small_mtcars &lt;- slice(arrange(mtcars, gear), 1:10)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MS Mincho"/>
              <a:ea typeface="MS Mincho"/>
              <a:cs typeface="MS Mincho"/>
              <a:sym typeface="MS Minch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MS Mincho"/>
                <a:ea typeface="MS Mincho"/>
                <a:cs typeface="MS Mincho"/>
                <a:sym typeface="MS Mincho"/>
              </a:rPr>
              <a:t>	small_mtcars &lt;- mtcars %&gt;%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MS Mincho"/>
                <a:ea typeface="MS Mincho"/>
                <a:cs typeface="MS Mincho"/>
                <a:sym typeface="MS Mincho"/>
              </a:rPr>
              <a:t> 	     arrange(gear) %&gt;%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MS Mincho"/>
                <a:ea typeface="MS Mincho"/>
                <a:cs typeface="MS Mincho"/>
                <a:sym typeface="MS Mincho"/>
              </a:rPr>
              <a:t> 	     slice(1:10)</a:t>
            </a:r>
            <a:endParaRPr sz="1600">
              <a:latin typeface="MS Mincho"/>
              <a:ea typeface="MS Mincho"/>
              <a:cs typeface="MS Mincho"/>
              <a:sym typeface="MS Mincho"/>
            </a:endParaRPr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9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Entonces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0"/>
          <p:cNvSpPr txBox="1"/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500"/>
              <a:t>Nuestra hoja de ruta</a:t>
            </a:r>
            <a:endParaRPr sz="2500"/>
          </a:p>
        </p:txBody>
      </p:sp>
      <p:sp>
        <p:nvSpPr>
          <p:cNvPr id="385" name="Google Shape;385;p50"/>
          <p:cNvSpPr/>
          <p:nvPr/>
        </p:nvSpPr>
        <p:spPr>
          <a:xfrm>
            <a:off x="4309672" y="713242"/>
            <a:ext cx="1828800" cy="4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Modelización</a:t>
            </a:r>
            <a:endParaRPr b="0" i="0" sz="140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6" name="Google Shape;386;p50"/>
          <p:cNvSpPr/>
          <p:nvPr/>
        </p:nvSpPr>
        <p:spPr>
          <a:xfrm>
            <a:off x="2480872" y="1400935"/>
            <a:ext cx="1828800" cy="4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Aprendizaje supervisado</a:t>
            </a:r>
            <a:endParaRPr b="0" i="0" sz="140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7" name="Google Shape;387;p50"/>
          <p:cNvSpPr/>
          <p:nvPr/>
        </p:nvSpPr>
        <p:spPr>
          <a:xfrm>
            <a:off x="6977913" y="1400935"/>
            <a:ext cx="1828800" cy="4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Aprendizaje no supervisado</a:t>
            </a:r>
            <a:endParaRPr b="0" i="0" sz="140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8" name="Google Shape;388;p50"/>
          <p:cNvSpPr/>
          <p:nvPr/>
        </p:nvSpPr>
        <p:spPr>
          <a:xfrm>
            <a:off x="367259" y="2033042"/>
            <a:ext cx="1828800" cy="4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Regresión</a:t>
            </a:r>
            <a:endParaRPr b="0" i="0" sz="140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9" name="Google Shape;389;p50"/>
          <p:cNvSpPr/>
          <p:nvPr/>
        </p:nvSpPr>
        <p:spPr>
          <a:xfrm>
            <a:off x="4736879" y="2032105"/>
            <a:ext cx="1828800" cy="4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Clasificación</a:t>
            </a:r>
            <a:endParaRPr b="0" i="0" sz="140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0" name="Google Shape;390;p50"/>
          <p:cNvSpPr/>
          <p:nvPr/>
        </p:nvSpPr>
        <p:spPr>
          <a:xfrm>
            <a:off x="2180183" y="3527498"/>
            <a:ext cx="1080000" cy="720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Regresión lineal</a:t>
            </a:r>
            <a:endParaRPr b="0" i="0" sz="105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1" name="Google Shape;391;p50"/>
          <p:cNvSpPr/>
          <p:nvPr/>
        </p:nvSpPr>
        <p:spPr>
          <a:xfrm>
            <a:off x="7457079" y="2114550"/>
            <a:ext cx="1087946" cy="720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Clustering</a:t>
            </a:r>
            <a:endParaRPr b="0" i="0" sz="105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2" name="Google Shape;392;p50"/>
          <p:cNvSpPr/>
          <p:nvPr/>
        </p:nvSpPr>
        <p:spPr>
          <a:xfrm>
            <a:off x="3974879" y="2798833"/>
            <a:ext cx="1584000" cy="4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Paramétricos</a:t>
            </a:r>
            <a:endParaRPr b="0" i="0" sz="140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3" name="Google Shape;393;p50"/>
          <p:cNvSpPr/>
          <p:nvPr/>
        </p:nvSpPr>
        <p:spPr>
          <a:xfrm>
            <a:off x="5963575" y="2796941"/>
            <a:ext cx="1584000" cy="4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No paramétricos</a:t>
            </a:r>
            <a:endParaRPr b="0" i="0" sz="140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94" name="Google Shape;394;p50"/>
          <p:cNvCxnSpPr>
            <a:stCxn id="388" idx="2"/>
            <a:endCxn id="395" idx="0"/>
          </p:cNvCxnSpPr>
          <p:nvPr/>
        </p:nvCxnSpPr>
        <p:spPr>
          <a:xfrm flipH="1">
            <a:off x="934559" y="2490242"/>
            <a:ext cx="347100" cy="328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50"/>
          <p:cNvCxnSpPr>
            <a:stCxn id="388" idx="2"/>
            <a:endCxn id="397" idx="0"/>
          </p:cNvCxnSpPr>
          <p:nvPr/>
        </p:nvCxnSpPr>
        <p:spPr>
          <a:xfrm>
            <a:off x="1281659" y="2490242"/>
            <a:ext cx="1431000" cy="3318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50"/>
          <p:cNvCxnSpPr>
            <a:stCxn id="386" idx="2"/>
            <a:endCxn id="388" idx="0"/>
          </p:cNvCxnSpPr>
          <p:nvPr/>
        </p:nvCxnSpPr>
        <p:spPr>
          <a:xfrm flipH="1">
            <a:off x="1281772" y="1858135"/>
            <a:ext cx="2113500" cy="174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50"/>
          <p:cNvCxnSpPr>
            <a:stCxn id="386" idx="2"/>
            <a:endCxn id="389" idx="0"/>
          </p:cNvCxnSpPr>
          <p:nvPr/>
        </p:nvCxnSpPr>
        <p:spPr>
          <a:xfrm>
            <a:off x="3395272" y="1858135"/>
            <a:ext cx="2256000" cy="1740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50"/>
          <p:cNvCxnSpPr>
            <a:stCxn id="385" idx="2"/>
            <a:endCxn id="386" idx="0"/>
          </p:cNvCxnSpPr>
          <p:nvPr/>
        </p:nvCxnSpPr>
        <p:spPr>
          <a:xfrm flipH="1">
            <a:off x="3395272" y="1170442"/>
            <a:ext cx="1828800" cy="2304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50"/>
          <p:cNvCxnSpPr>
            <a:stCxn id="385" idx="2"/>
            <a:endCxn id="387" idx="0"/>
          </p:cNvCxnSpPr>
          <p:nvPr/>
        </p:nvCxnSpPr>
        <p:spPr>
          <a:xfrm>
            <a:off x="5224072" y="1170442"/>
            <a:ext cx="2668200" cy="2304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50"/>
          <p:cNvCxnSpPr>
            <a:stCxn id="389" idx="2"/>
            <a:endCxn id="392" idx="0"/>
          </p:cNvCxnSpPr>
          <p:nvPr/>
        </p:nvCxnSpPr>
        <p:spPr>
          <a:xfrm flipH="1">
            <a:off x="4766879" y="2489305"/>
            <a:ext cx="884400" cy="3096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50"/>
          <p:cNvCxnSpPr>
            <a:stCxn id="389" idx="2"/>
            <a:endCxn id="393" idx="0"/>
          </p:cNvCxnSpPr>
          <p:nvPr/>
        </p:nvCxnSpPr>
        <p:spPr>
          <a:xfrm>
            <a:off x="5651279" y="2489305"/>
            <a:ext cx="1104300" cy="307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50"/>
          <p:cNvCxnSpPr/>
          <p:nvPr/>
        </p:nvCxnSpPr>
        <p:spPr>
          <a:xfrm>
            <a:off x="7989748" y="1858135"/>
            <a:ext cx="0" cy="255478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50"/>
          <p:cNvSpPr/>
          <p:nvPr/>
        </p:nvSpPr>
        <p:spPr>
          <a:xfrm>
            <a:off x="4239730" y="3527498"/>
            <a:ext cx="1080000" cy="720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63D2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Regresión logística</a:t>
            </a:r>
            <a:endParaRPr b="0" i="0" sz="105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6" name="Google Shape;406;p50"/>
          <p:cNvSpPr/>
          <p:nvPr/>
        </p:nvSpPr>
        <p:spPr>
          <a:xfrm>
            <a:off x="6339144" y="3510556"/>
            <a:ext cx="1087946" cy="720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KNN</a:t>
            </a:r>
            <a:endParaRPr b="0" i="0" sz="105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07" name="Google Shape;407;p50"/>
          <p:cNvCxnSpPr/>
          <p:nvPr/>
        </p:nvCxnSpPr>
        <p:spPr>
          <a:xfrm>
            <a:off x="4776208" y="3256033"/>
            <a:ext cx="0" cy="270528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50"/>
          <p:cNvCxnSpPr/>
          <p:nvPr/>
        </p:nvCxnSpPr>
        <p:spPr>
          <a:xfrm>
            <a:off x="6872872" y="3254141"/>
            <a:ext cx="0" cy="256415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50"/>
          <p:cNvSpPr/>
          <p:nvPr/>
        </p:nvSpPr>
        <p:spPr>
          <a:xfrm>
            <a:off x="1920554" y="2821991"/>
            <a:ext cx="1584000" cy="4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Paramétricos</a:t>
            </a:r>
            <a:endParaRPr b="0" i="0" sz="140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5" name="Google Shape;395;p50"/>
          <p:cNvSpPr/>
          <p:nvPr/>
        </p:nvSpPr>
        <p:spPr>
          <a:xfrm>
            <a:off x="142597" y="2818332"/>
            <a:ext cx="1584000" cy="4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No paramétricos</a:t>
            </a:r>
            <a:endParaRPr b="0" i="0" sz="140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09" name="Google Shape;409;p50"/>
          <p:cNvCxnSpPr/>
          <p:nvPr/>
        </p:nvCxnSpPr>
        <p:spPr>
          <a:xfrm>
            <a:off x="2712554" y="3279191"/>
            <a:ext cx="0" cy="24737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50"/>
          <p:cNvSpPr/>
          <p:nvPr/>
        </p:nvSpPr>
        <p:spPr>
          <a:xfrm>
            <a:off x="405051" y="3541867"/>
            <a:ext cx="1087946" cy="720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Splines</a:t>
            </a:r>
            <a:endParaRPr b="0" i="0" sz="105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11" name="Google Shape;411;p50"/>
          <p:cNvCxnSpPr/>
          <p:nvPr/>
        </p:nvCxnSpPr>
        <p:spPr>
          <a:xfrm>
            <a:off x="947106" y="3267612"/>
            <a:ext cx="0" cy="274255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50"/>
          <p:cNvSpPr/>
          <p:nvPr/>
        </p:nvSpPr>
        <p:spPr>
          <a:xfrm>
            <a:off x="2023672" y="3432749"/>
            <a:ext cx="3477717" cy="92256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0"/>
          <p:cNvSpPr/>
          <p:nvPr/>
        </p:nvSpPr>
        <p:spPr>
          <a:xfrm>
            <a:off x="5512130" y="4268154"/>
            <a:ext cx="1080000" cy="720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63D2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LASSO</a:t>
            </a:r>
            <a:endParaRPr b="0" i="0" sz="1050" u="none" cap="none" strike="noStrike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14" name="Google Shape;414;p50"/>
          <p:cNvCxnSpPr>
            <a:stCxn id="413" idx="3"/>
            <a:endCxn id="412" idx="2"/>
          </p:cNvCxnSpPr>
          <p:nvPr/>
        </p:nvCxnSpPr>
        <p:spPr>
          <a:xfrm rot="10800000">
            <a:off x="3762530" y="4355454"/>
            <a:ext cx="1749600" cy="2727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1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La semana que viene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2"/>
          <p:cNvSpPr txBox="1"/>
          <p:nvPr>
            <p:ph type="title"/>
          </p:nvPr>
        </p:nvSpPr>
        <p:spPr>
          <a:xfrm>
            <a:off x="311700" y="15285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La clase que viene</a:t>
            </a:r>
            <a:endParaRPr/>
          </a:p>
        </p:txBody>
      </p:sp>
      <p:sp>
        <p:nvSpPr>
          <p:cNvPr id="425" name="Google Shape;425;p52"/>
          <p:cNvSpPr txBox="1"/>
          <p:nvPr>
            <p:ph idx="1" type="body"/>
          </p:nvPr>
        </p:nvSpPr>
        <p:spPr>
          <a:xfrm>
            <a:off x="311700" y="72219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/>
              <a:t>Teórico</a:t>
            </a:r>
            <a:r>
              <a:rPr lang="en-GB"/>
              <a:t>: Explorando y transformando variables. Intro a regresión lineal simple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/>
              <a:t>Práctico</a:t>
            </a:r>
            <a:r>
              <a:rPr lang="en-GB"/>
              <a:t>: resolver guía domiciliaria. Traer dudas y/o comentarios.</a:t>
            </a:r>
            <a:endParaRPr/>
          </a:p>
        </p:txBody>
      </p:sp>
      <p:grpSp>
        <p:nvGrpSpPr>
          <p:cNvPr id="426" name="Google Shape;426;p52"/>
          <p:cNvGrpSpPr/>
          <p:nvPr/>
        </p:nvGrpSpPr>
        <p:grpSpPr>
          <a:xfrm>
            <a:off x="1069512" y="1825828"/>
            <a:ext cx="6988459" cy="2954374"/>
            <a:chOff x="1069512" y="1825828"/>
            <a:chExt cx="6988459" cy="2954374"/>
          </a:xfrm>
        </p:grpSpPr>
        <p:grpSp>
          <p:nvGrpSpPr>
            <p:cNvPr id="427" name="Google Shape;427;p52"/>
            <p:cNvGrpSpPr/>
            <p:nvPr/>
          </p:nvGrpSpPr>
          <p:grpSpPr>
            <a:xfrm>
              <a:off x="1069512" y="1825828"/>
              <a:ext cx="6988459" cy="2954374"/>
              <a:chOff x="367259" y="1400935"/>
              <a:chExt cx="6988459" cy="2954374"/>
            </a:xfrm>
          </p:grpSpPr>
          <p:sp>
            <p:nvSpPr>
              <p:cNvPr id="428" name="Google Shape;428;p52"/>
              <p:cNvSpPr/>
              <p:nvPr/>
            </p:nvSpPr>
            <p:spPr>
              <a:xfrm>
                <a:off x="2480872" y="1400935"/>
                <a:ext cx="1828800" cy="4572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400" u="none" cap="none" strike="noStrike">
                    <a:solidFill>
                      <a:schemeClr val="accent2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Aprendizaje supervisado</a:t>
                </a:r>
                <a:endParaRPr b="0" i="0" sz="1400" u="none" cap="none" strike="noStrike">
                  <a:solidFill>
                    <a:schemeClr val="accent2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  <p:sp>
            <p:nvSpPr>
              <p:cNvPr id="429" name="Google Shape;429;p52"/>
              <p:cNvSpPr/>
              <p:nvPr/>
            </p:nvSpPr>
            <p:spPr>
              <a:xfrm>
                <a:off x="367259" y="2033042"/>
                <a:ext cx="1828800" cy="4572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400" u="none" cap="none" strike="noStrike">
                    <a:solidFill>
                      <a:schemeClr val="accent2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Regresión</a:t>
                </a:r>
                <a:endParaRPr b="0" i="0" sz="1400" u="none" cap="none" strike="noStrike">
                  <a:solidFill>
                    <a:schemeClr val="accent2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  <p:sp>
            <p:nvSpPr>
              <p:cNvPr id="430" name="Google Shape;430;p52"/>
              <p:cNvSpPr/>
              <p:nvPr/>
            </p:nvSpPr>
            <p:spPr>
              <a:xfrm>
                <a:off x="4736879" y="2032105"/>
                <a:ext cx="1828800" cy="4572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400" u="none" cap="none" strike="noStrike">
                    <a:solidFill>
                      <a:schemeClr val="accent2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Clasificación</a:t>
                </a:r>
                <a:endParaRPr b="0" i="0" sz="1400" u="none" cap="none" strike="noStrike">
                  <a:solidFill>
                    <a:schemeClr val="accent2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  <p:sp>
            <p:nvSpPr>
              <p:cNvPr id="431" name="Google Shape;431;p52"/>
              <p:cNvSpPr/>
              <p:nvPr/>
            </p:nvSpPr>
            <p:spPr>
              <a:xfrm>
                <a:off x="2180183" y="3527498"/>
                <a:ext cx="1080000" cy="720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2857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050" u="none" cap="none" strike="noStrike">
                    <a:solidFill>
                      <a:schemeClr val="accent2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Regresión lineal</a:t>
                </a:r>
                <a:endParaRPr b="0" i="0" sz="1050" u="none" cap="none" strike="noStrike">
                  <a:solidFill>
                    <a:schemeClr val="accent2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  <p:sp>
            <p:nvSpPr>
              <p:cNvPr id="432" name="Google Shape;432;p52"/>
              <p:cNvSpPr/>
              <p:nvPr/>
            </p:nvSpPr>
            <p:spPr>
              <a:xfrm>
                <a:off x="3974879" y="2798833"/>
                <a:ext cx="1584000" cy="4572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400" u="none" cap="none" strike="noStrike">
                    <a:solidFill>
                      <a:schemeClr val="accent2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Paramétricos</a:t>
                </a:r>
                <a:endParaRPr b="0" i="0" sz="1400" u="none" cap="none" strike="noStrike">
                  <a:solidFill>
                    <a:schemeClr val="accent2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  <p:cxnSp>
            <p:nvCxnSpPr>
              <p:cNvPr id="433" name="Google Shape;433;p52"/>
              <p:cNvCxnSpPr>
                <a:stCxn id="429" idx="2"/>
                <a:endCxn id="434" idx="0"/>
              </p:cNvCxnSpPr>
              <p:nvPr/>
            </p:nvCxnSpPr>
            <p:spPr>
              <a:xfrm>
                <a:off x="1281659" y="2490242"/>
                <a:ext cx="1431000" cy="331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52"/>
              <p:cNvCxnSpPr>
                <a:stCxn id="428" idx="2"/>
                <a:endCxn id="429" idx="0"/>
              </p:cNvCxnSpPr>
              <p:nvPr/>
            </p:nvCxnSpPr>
            <p:spPr>
              <a:xfrm flipH="1">
                <a:off x="1281772" y="1858135"/>
                <a:ext cx="2113500" cy="174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52"/>
              <p:cNvCxnSpPr>
                <a:stCxn id="428" idx="2"/>
                <a:endCxn id="430" idx="0"/>
              </p:cNvCxnSpPr>
              <p:nvPr/>
            </p:nvCxnSpPr>
            <p:spPr>
              <a:xfrm>
                <a:off x="3395272" y="1858135"/>
                <a:ext cx="2256000" cy="174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52"/>
              <p:cNvCxnSpPr>
                <a:stCxn id="430" idx="2"/>
                <a:endCxn id="432" idx="0"/>
              </p:cNvCxnSpPr>
              <p:nvPr/>
            </p:nvCxnSpPr>
            <p:spPr>
              <a:xfrm flipH="1">
                <a:off x="4766879" y="2489305"/>
                <a:ext cx="884400" cy="309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38" name="Google Shape;438;p52"/>
              <p:cNvSpPr/>
              <p:nvPr/>
            </p:nvSpPr>
            <p:spPr>
              <a:xfrm>
                <a:off x="4239730" y="3527498"/>
                <a:ext cx="1080000" cy="720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050" u="none" cap="none" strike="noStrike">
                    <a:solidFill>
                      <a:schemeClr val="accent2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Regresión logística</a:t>
                </a:r>
                <a:endParaRPr b="0" i="0" sz="1050" u="none" cap="none" strike="noStrike">
                  <a:solidFill>
                    <a:schemeClr val="accent2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  <p:cxnSp>
            <p:nvCxnSpPr>
              <p:cNvPr id="439" name="Google Shape;439;p52"/>
              <p:cNvCxnSpPr/>
              <p:nvPr/>
            </p:nvCxnSpPr>
            <p:spPr>
              <a:xfrm>
                <a:off x="4776208" y="3256033"/>
                <a:ext cx="0" cy="27052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34" name="Google Shape;434;p52"/>
              <p:cNvSpPr/>
              <p:nvPr/>
            </p:nvSpPr>
            <p:spPr>
              <a:xfrm>
                <a:off x="1920554" y="2821991"/>
                <a:ext cx="1584000" cy="4572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400" u="none" cap="none" strike="noStrike">
                    <a:solidFill>
                      <a:schemeClr val="accent2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Paramétricos</a:t>
                </a:r>
                <a:endParaRPr b="0" i="0" sz="1400" u="none" cap="none" strike="noStrike">
                  <a:solidFill>
                    <a:schemeClr val="accent2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  <p:cxnSp>
            <p:nvCxnSpPr>
              <p:cNvPr id="440" name="Google Shape;440;p52"/>
              <p:cNvCxnSpPr/>
              <p:nvPr/>
            </p:nvCxnSpPr>
            <p:spPr>
              <a:xfrm>
                <a:off x="2712554" y="3279191"/>
                <a:ext cx="0" cy="24737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41" name="Google Shape;441;p52"/>
              <p:cNvSpPr/>
              <p:nvPr/>
            </p:nvSpPr>
            <p:spPr>
              <a:xfrm>
                <a:off x="2023672" y="3432749"/>
                <a:ext cx="3477717" cy="92256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5400">
                <a:solidFill>
                  <a:schemeClr val="accent4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52"/>
              <p:cNvSpPr/>
              <p:nvPr/>
            </p:nvSpPr>
            <p:spPr>
              <a:xfrm>
                <a:off x="6275718" y="3526561"/>
                <a:ext cx="1080000" cy="720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050" u="none" cap="none" strike="noStrike">
                    <a:solidFill>
                      <a:schemeClr val="accent2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LASSO</a:t>
                </a:r>
                <a:endParaRPr b="0" i="0" sz="1050" u="none" cap="none" strike="noStrike">
                  <a:solidFill>
                    <a:schemeClr val="accent2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  <p:cxnSp>
          <p:nvCxnSpPr>
            <p:cNvPr id="443" name="Google Shape;443;p52"/>
            <p:cNvCxnSpPr>
              <a:stCxn id="442" idx="3"/>
              <a:endCxn id="441" idx="3"/>
            </p:cNvCxnSpPr>
            <p:nvPr/>
          </p:nvCxnSpPr>
          <p:spPr>
            <a:xfrm flipH="1">
              <a:off x="6203671" y="4311454"/>
              <a:ext cx="774300" cy="7500"/>
            </a:xfrm>
            <a:prstGeom prst="straightConnector1">
              <a:avLst/>
            </a:prstGeom>
            <a:noFill/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Carolina Pradier</dc:creator>
</cp:coreProperties>
</file>